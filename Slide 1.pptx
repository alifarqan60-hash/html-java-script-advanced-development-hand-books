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59" r:id="rId4"/>
    <p:sldId id="260" r:id="rId5"/>
    <p:sldId id="262" r:id="rId6"/>
    <p:sldId id="295" r:id="rId7"/>
    <p:sldId id="258" r:id="rId8"/>
    <p:sldId id="257" r:id="rId9"/>
    <p:sldId id="263" r:id="rId10"/>
    <p:sldId id="264" r:id="rId11"/>
    <p:sldId id="265" r:id="rId12"/>
    <p:sldId id="266" r:id="rId13"/>
    <p:sldId id="267" r:id="rId14"/>
    <p:sldId id="268" r:id="rId15"/>
    <p:sldId id="269" r:id="rId16"/>
    <p:sldId id="270" r:id="rId17"/>
    <p:sldId id="272" r:id="rId18"/>
    <p:sldId id="271" r:id="rId19"/>
    <p:sldId id="273" r:id="rId20"/>
    <p:sldId id="275" r:id="rId21"/>
    <p:sldId id="274" r:id="rId22"/>
    <p:sldId id="276" r:id="rId23"/>
    <p:sldId id="277" r:id="rId24"/>
    <p:sldId id="278" r:id="rId25"/>
    <p:sldId id="279" r:id="rId26"/>
    <p:sldId id="280" r:id="rId27"/>
    <p:sldId id="281" r:id="rId28"/>
    <p:sldId id="282" r:id="rId29"/>
    <p:sldId id="283" r:id="rId30"/>
    <p:sldId id="284" r:id="rId31"/>
    <p:sldId id="285" r:id="rId32"/>
    <p:sldId id="286" r:id="rId33"/>
    <p:sldId id="288" r:id="rId34"/>
    <p:sldId id="290" r:id="rId35"/>
    <p:sldId id="289" r:id="rId36"/>
    <p:sldId id="292" r:id="rId37"/>
    <p:sldId id="293" r:id="rId38"/>
    <p:sldId id="294" r:id="rId39"/>
    <p:sldId id="291" r:id="rId40"/>
    <p:sldId id="287"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6245D3-6492-4E84-A68A-21EA97D2C3C9}" type="datetimeFigureOut">
              <a:rPr lang="en-PK" smtClean="0"/>
              <a:t>09/27/2025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42036D9-34AA-4D17-AE0B-798D6FE92F33}"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497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6245D3-6492-4E84-A68A-21EA97D2C3C9}" type="datetimeFigureOut">
              <a:rPr lang="en-PK" smtClean="0"/>
              <a:t>09/27/2025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42036D9-34AA-4D17-AE0B-798D6FE92F33}" type="slidenum">
              <a:rPr lang="en-PK" smtClean="0"/>
              <a:t>‹#›</a:t>
            </a:fld>
            <a:endParaRPr lang="en-PK"/>
          </a:p>
        </p:txBody>
      </p:sp>
    </p:spTree>
    <p:extLst>
      <p:ext uri="{BB962C8B-B14F-4D97-AF65-F5344CB8AC3E}">
        <p14:creationId xmlns:p14="http://schemas.microsoft.com/office/powerpoint/2010/main" val="592930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6245D3-6492-4E84-A68A-21EA97D2C3C9}" type="datetimeFigureOut">
              <a:rPr lang="en-PK" smtClean="0"/>
              <a:t>09/27/2025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42036D9-34AA-4D17-AE0B-798D6FE92F33}"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6266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6245D3-6492-4E84-A68A-21EA97D2C3C9}" type="datetimeFigureOut">
              <a:rPr lang="en-PK" smtClean="0"/>
              <a:t>09/27/2025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242036D9-34AA-4D17-AE0B-798D6FE92F33}" type="slidenum">
              <a:rPr lang="en-PK" smtClean="0"/>
              <a:t>‹#›</a:t>
            </a:fld>
            <a:endParaRPr lang="en-PK"/>
          </a:p>
        </p:txBody>
      </p:sp>
    </p:spTree>
    <p:extLst>
      <p:ext uri="{BB962C8B-B14F-4D97-AF65-F5344CB8AC3E}">
        <p14:creationId xmlns:p14="http://schemas.microsoft.com/office/powerpoint/2010/main" val="1794949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6245D3-6492-4E84-A68A-21EA97D2C3C9}" type="datetimeFigureOut">
              <a:rPr lang="en-PK" smtClean="0"/>
              <a:t>09/27/2025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242036D9-34AA-4D17-AE0B-798D6FE92F33}" type="slidenum">
              <a:rPr lang="en-PK" smtClean="0"/>
              <a:t>‹#›</a:t>
            </a:fld>
            <a:endParaRPr lang="en-PK"/>
          </a:p>
        </p:txBody>
      </p:sp>
    </p:spTree>
    <p:extLst>
      <p:ext uri="{BB962C8B-B14F-4D97-AF65-F5344CB8AC3E}">
        <p14:creationId xmlns:p14="http://schemas.microsoft.com/office/powerpoint/2010/main" val="3697430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6245D3-6492-4E84-A68A-21EA97D2C3C9}" type="datetimeFigureOut">
              <a:rPr lang="en-PK" smtClean="0"/>
              <a:t>09/27/2025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242036D9-34AA-4D17-AE0B-798D6FE92F33}" type="slidenum">
              <a:rPr lang="en-PK" smtClean="0"/>
              <a:t>‹#›</a:t>
            </a:fld>
            <a:endParaRPr lang="en-PK"/>
          </a:p>
        </p:txBody>
      </p:sp>
    </p:spTree>
    <p:extLst>
      <p:ext uri="{BB962C8B-B14F-4D97-AF65-F5344CB8AC3E}">
        <p14:creationId xmlns:p14="http://schemas.microsoft.com/office/powerpoint/2010/main" val="836319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96245D3-6492-4E84-A68A-21EA97D2C3C9}" type="datetimeFigureOut">
              <a:rPr lang="en-PK" smtClean="0"/>
              <a:t>09/27/2025</a:t>
            </a:fld>
            <a:endParaRPr lang="en-PK"/>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PK"/>
          </a:p>
        </p:txBody>
      </p:sp>
      <p:sp>
        <p:nvSpPr>
          <p:cNvPr id="9" name="Slide Number Placeholder 8"/>
          <p:cNvSpPr>
            <a:spLocks noGrp="1"/>
          </p:cNvSpPr>
          <p:nvPr>
            <p:ph type="sldNum" sz="quarter" idx="12"/>
          </p:nvPr>
        </p:nvSpPr>
        <p:spPr/>
        <p:txBody>
          <a:bodyPr/>
          <a:lstStyle/>
          <a:p>
            <a:fld id="{242036D9-34AA-4D17-AE0B-798D6FE92F33}" type="slidenum">
              <a:rPr lang="en-PK" smtClean="0"/>
              <a:t>‹#›</a:t>
            </a:fld>
            <a:endParaRPr lang="en-PK"/>
          </a:p>
        </p:txBody>
      </p:sp>
    </p:spTree>
    <p:extLst>
      <p:ext uri="{BB962C8B-B14F-4D97-AF65-F5344CB8AC3E}">
        <p14:creationId xmlns:p14="http://schemas.microsoft.com/office/powerpoint/2010/main" val="1506939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96245D3-6492-4E84-A68A-21EA97D2C3C9}" type="datetimeFigureOut">
              <a:rPr lang="en-PK" smtClean="0"/>
              <a:t>09/27/2025</a:t>
            </a:fld>
            <a:endParaRPr lang="en-PK"/>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PK"/>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42036D9-34AA-4D17-AE0B-798D6FE92F33}" type="slidenum">
              <a:rPr lang="en-PK" smtClean="0"/>
              <a:t>‹#›</a:t>
            </a:fld>
            <a:endParaRPr lang="en-PK"/>
          </a:p>
        </p:txBody>
      </p:sp>
    </p:spTree>
    <p:extLst>
      <p:ext uri="{BB962C8B-B14F-4D97-AF65-F5344CB8AC3E}">
        <p14:creationId xmlns:p14="http://schemas.microsoft.com/office/powerpoint/2010/main" val="1914772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6245D3-6492-4E84-A68A-21EA97D2C3C9}" type="datetimeFigureOut">
              <a:rPr lang="en-PK" smtClean="0"/>
              <a:t>09/27/2025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242036D9-34AA-4D17-AE0B-798D6FE92F33}" type="slidenum">
              <a:rPr lang="en-PK" smtClean="0"/>
              <a:t>‹#›</a:t>
            </a:fld>
            <a:endParaRPr lang="en-PK"/>
          </a:p>
        </p:txBody>
      </p:sp>
    </p:spTree>
    <p:extLst>
      <p:ext uri="{BB962C8B-B14F-4D97-AF65-F5344CB8AC3E}">
        <p14:creationId xmlns:p14="http://schemas.microsoft.com/office/powerpoint/2010/main" val="1984443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6245D3-6492-4E84-A68A-21EA97D2C3C9}" type="datetimeFigureOut">
              <a:rPr lang="en-PK" smtClean="0"/>
              <a:t>09/27/2025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42036D9-34AA-4D17-AE0B-798D6FE92F33}" type="slidenum">
              <a:rPr lang="en-PK" smtClean="0"/>
              <a:t>‹#›</a:t>
            </a:fld>
            <a:endParaRPr lang="en-PK"/>
          </a:p>
        </p:txBody>
      </p:sp>
    </p:spTree>
    <p:extLst>
      <p:ext uri="{BB962C8B-B14F-4D97-AF65-F5344CB8AC3E}">
        <p14:creationId xmlns:p14="http://schemas.microsoft.com/office/powerpoint/2010/main" val="1350268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6245D3-6492-4E84-A68A-21EA97D2C3C9}" type="datetimeFigureOut">
              <a:rPr lang="en-PK" smtClean="0"/>
              <a:t>09/27/2025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42036D9-34AA-4D17-AE0B-798D6FE92F33}" type="slidenum">
              <a:rPr lang="en-PK" smtClean="0"/>
              <a:t>‹#›</a:t>
            </a:fld>
            <a:endParaRPr lang="en-PK"/>
          </a:p>
        </p:txBody>
      </p:sp>
    </p:spTree>
    <p:extLst>
      <p:ext uri="{BB962C8B-B14F-4D97-AF65-F5344CB8AC3E}">
        <p14:creationId xmlns:p14="http://schemas.microsoft.com/office/powerpoint/2010/main" val="168256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96245D3-6492-4E84-A68A-21EA97D2C3C9}" type="datetimeFigureOut">
              <a:rPr lang="en-PK" smtClean="0"/>
              <a:t>09/27/2025</a:t>
            </a:fld>
            <a:endParaRPr lang="en-PK"/>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PK"/>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42036D9-34AA-4D17-AE0B-798D6FE92F33}" type="slidenum">
              <a:rPr lang="en-PK" smtClean="0"/>
              <a:t>‹#›</a:t>
            </a:fld>
            <a:endParaRPr lang="en-PK"/>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68397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n.wikipedia.org/wiki/Websit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investopedia.com/articles/personal-finance/081315/mark-zuckerberg-success-story-net-worth-education-top-quotes.asp"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shoutmeloud.com/jack-ma-alibaba-founder.html#:~:text=Jack%20Ma%20is%20the%20founder,IPO%20filing%20of%20his%20company" TargetMode="External"/><Relationship Id="rId2" Type="http://schemas.openxmlformats.org/officeDocument/2006/relationships/hyperlink" Target="https://www.businessinsider.com/the-inspiring-life-story-of-alibaba-founder-jack-ma-2014-10#ma-had-no-experience-with-computers-or-coding-but-he-was-captivated-by-the-internet-when-he-used-it-for-the-first-time-during-a-trip-to-the-us-in-1995-he-had-recently-started-a-translation-business-and-made-the-trip-to-help-a-chinese-firm-recover-a-payment-mas-first-online-search-was-beer-but-he-was-surprised-to-find-that-no-chinese-beers-turned-up-in-the-results-it-was-then-that-he-decided-to-found-an-internet-company-for-china-6" TargetMode="External"/><Relationship Id="rId1" Type="http://schemas.openxmlformats.org/officeDocument/2006/relationships/slideLayout" Target="../slideLayouts/slideLayout2.xml"/><Relationship Id="rId4" Type="http://schemas.openxmlformats.org/officeDocument/2006/relationships/hyperlink" Target="https://www.businessinsider.com/the-inspiring-life-story-of-alibaba-founder-jack-ma-2014-1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kaspersky.com/resource-center/threats/what-is-cybercrim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javatpoint.com/what-is-world-wide-web"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google.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en.wikipedia.org/wiki/Tim_Berners-Le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betterprogramming.pub/web-development-in-2021-dynamic-vs-static-vs-single-page-architecture-399d0c3defe6"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5B54-DE40-4C24-AE3C-226B411C8786}"/>
              </a:ext>
            </a:extLst>
          </p:cNvPr>
          <p:cNvSpPr>
            <a:spLocks noGrp="1"/>
          </p:cNvSpPr>
          <p:nvPr>
            <p:ph type="ctrTitle"/>
          </p:nvPr>
        </p:nvSpPr>
        <p:spPr/>
        <p:txBody>
          <a:bodyPr>
            <a:normAutofit/>
          </a:bodyPr>
          <a:lstStyle/>
          <a:p>
            <a:pPr algn="ctr"/>
            <a:br>
              <a:rPr lang="en-US" sz="7200" dirty="0"/>
            </a:br>
            <a:r>
              <a:rPr lang="en-US" sz="7200" dirty="0"/>
              <a:t>Advance Web Application Development</a:t>
            </a:r>
            <a:endParaRPr lang="en-PK" sz="7200" dirty="0"/>
          </a:p>
        </p:txBody>
      </p:sp>
    </p:spTree>
    <p:extLst>
      <p:ext uri="{BB962C8B-B14F-4D97-AF65-F5344CB8AC3E}">
        <p14:creationId xmlns:p14="http://schemas.microsoft.com/office/powerpoint/2010/main" val="3367421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F8F76-735E-4CCB-BA65-1FE0E47DA321}"/>
              </a:ext>
            </a:extLst>
          </p:cNvPr>
          <p:cNvSpPr>
            <a:spLocks noGrp="1"/>
          </p:cNvSpPr>
          <p:nvPr>
            <p:ph type="title"/>
          </p:nvPr>
        </p:nvSpPr>
        <p:spPr/>
        <p:txBody>
          <a:bodyPr/>
          <a:lstStyle/>
          <a:p>
            <a:r>
              <a:rPr lang="en-US" dirty="0"/>
              <a:t>What is Website</a:t>
            </a:r>
            <a:endParaRPr lang="en-PK" dirty="0"/>
          </a:p>
        </p:txBody>
      </p:sp>
      <p:sp>
        <p:nvSpPr>
          <p:cNvPr id="3" name="Content Placeholder 2">
            <a:extLst>
              <a:ext uri="{FF2B5EF4-FFF2-40B4-BE49-F238E27FC236}">
                <a16:creationId xmlns:a16="http://schemas.microsoft.com/office/drawing/2014/main" id="{B42E7118-30A8-4DB9-89DD-2C9372A357E0}"/>
              </a:ext>
            </a:extLst>
          </p:cNvPr>
          <p:cNvSpPr>
            <a:spLocks noGrp="1"/>
          </p:cNvSpPr>
          <p:nvPr>
            <p:ph idx="1"/>
          </p:nvPr>
        </p:nvSpPr>
        <p:spPr/>
        <p:txBody>
          <a:bodyPr/>
          <a:lstStyle/>
          <a:p>
            <a:pPr algn="just"/>
            <a:r>
              <a:rPr lang="en-US" dirty="0"/>
              <a:t>A website is a collection of web pages and related content that is identified by a common domain name and published on at least one web server.</a:t>
            </a:r>
            <a:r>
              <a:rPr lang="en-US" sz="2000" dirty="0"/>
              <a:t> </a:t>
            </a:r>
            <a:r>
              <a:rPr lang="en-US" sz="2000" dirty="0">
                <a:solidFill>
                  <a:schemeClr val="bg1">
                    <a:lumMod val="50000"/>
                  </a:schemeClr>
                </a:solidFill>
              </a:rPr>
              <a:t>(</a:t>
            </a:r>
            <a:r>
              <a:rPr lang="en-US" sz="2000" dirty="0">
                <a:solidFill>
                  <a:schemeClr val="bg1">
                    <a:lumMod val="50000"/>
                  </a:schemeClr>
                </a:solidFill>
                <a:hlinkClick r:id="rId2"/>
              </a:rPr>
              <a:t>https://en.wikipedia.org/wiki/Website</a:t>
            </a:r>
            <a:r>
              <a:rPr lang="en-US" sz="2000" dirty="0">
                <a:solidFill>
                  <a:schemeClr val="bg1">
                    <a:lumMod val="50000"/>
                  </a:schemeClr>
                </a:solidFill>
              </a:rPr>
              <a:t>)</a:t>
            </a:r>
          </a:p>
          <a:p>
            <a:pPr algn="just"/>
            <a:r>
              <a:rPr lang="en-US" dirty="0"/>
              <a:t>Different companies, Govt or private organization </a:t>
            </a:r>
            <a:r>
              <a:rPr lang="en-US" dirty="0" err="1"/>
              <a:t>etc</a:t>
            </a:r>
            <a:r>
              <a:rPr lang="en-US" dirty="0"/>
              <a:t> create their web to provide their information through internet. More over clients can also communication with them using their website.</a:t>
            </a:r>
          </a:p>
          <a:p>
            <a:pPr algn="just"/>
            <a:r>
              <a:rPr lang="en-US" dirty="0"/>
              <a:t>Website is accessed through web browser.</a:t>
            </a:r>
            <a:endParaRPr lang="en-PK" dirty="0"/>
          </a:p>
        </p:txBody>
      </p:sp>
    </p:spTree>
    <p:extLst>
      <p:ext uri="{BB962C8B-B14F-4D97-AF65-F5344CB8AC3E}">
        <p14:creationId xmlns:p14="http://schemas.microsoft.com/office/powerpoint/2010/main" val="2177802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5F12F-AD7C-4017-AA4D-98A0BDF02C34}"/>
              </a:ext>
            </a:extLst>
          </p:cNvPr>
          <p:cNvSpPr>
            <a:spLocks noGrp="1"/>
          </p:cNvSpPr>
          <p:nvPr>
            <p:ph type="title"/>
          </p:nvPr>
        </p:nvSpPr>
        <p:spPr/>
        <p:txBody>
          <a:bodyPr/>
          <a:lstStyle/>
          <a:p>
            <a:r>
              <a:rPr lang="en-US" dirty="0"/>
              <a:t>What is Web Development</a:t>
            </a:r>
            <a:endParaRPr lang="en-PK" dirty="0"/>
          </a:p>
        </p:txBody>
      </p:sp>
      <p:sp>
        <p:nvSpPr>
          <p:cNvPr id="3" name="Content Placeholder 2">
            <a:extLst>
              <a:ext uri="{FF2B5EF4-FFF2-40B4-BE49-F238E27FC236}">
                <a16:creationId xmlns:a16="http://schemas.microsoft.com/office/drawing/2014/main" id="{24F7F72F-78B7-424F-B781-42E462BA08D9}"/>
              </a:ext>
            </a:extLst>
          </p:cNvPr>
          <p:cNvSpPr>
            <a:spLocks noGrp="1"/>
          </p:cNvSpPr>
          <p:nvPr>
            <p:ph idx="1"/>
          </p:nvPr>
        </p:nvSpPr>
        <p:spPr>
          <a:xfrm>
            <a:off x="1066800" y="1845734"/>
            <a:ext cx="10058400" cy="4023360"/>
          </a:xfrm>
        </p:spPr>
        <p:txBody>
          <a:bodyPr/>
          <a:lstStyle/>
          <a:p>
            <a:pPr algn="just"/>
            <a:r>
              <a:rPr lang="en-US" dirty="0"/>
              <a:t>Web development is the process of building and maintaining a website for the Internet or an intranet that is accessed through a web browser and hosted on a server, either on on-premises hardware or in the cloud. This includes everything from single plain-text webpages up to complex web applications. </a:t>
            </a:r>
          </a:p>
          <a:p>
            <a:pPr algn="just"/>
            <a:r>
              <a:rPr lang="en-US" sz="2000" dirty="0">
                <a:solidFill>
                  <a:schemeClr val="bg1">
                    <a:lumMod val="50000"/>
                  </a:schemeClr>
                </a:solidFill>
              </a:rPr>
              <a:t>(https://www.webopedia.com/definitions/web-development/)</a:t>
            </a:r>
          </a:p>
          <a:p>
            <a:pPr algn="just"/>
            <a:endParaRPr lang="en-PK" dirty="0"/>
          </a:p>
        </p:txBody>
      </p:sp>
    </p:spTree>
    <p:extLst>
      <p:ext uri="{BB962C8B-B14F-4D97-AF65-F5344CB8AC3E}">
        <p14:creationId xmlns:p14="http://schemas.microsoft.com/office/powerpoint/2010/main" val="2148327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D7973-C887-4534-ACB1-B0BA9E0C6D80}"/>
              </a:ext>
            </a:extLst>
          </p:cNvPr>
          <p:cNvSpPr>
            <a:spLocks noGrp="1"/>
          </p:cNvSpPr>
          <p:nvPr>
            <p:ph type="title"/>
          </p:nvPr>
        </p:nvSpPr>
        <p:spPr/>
        <p:txBody>
          <a:bodyPr/>
          <a:lstStyle/>
          <a:p>
            <a:r>
              <a:rPr lang="en-US" dirty="0"/>
              <a:t>Successful </a:t>
            </a:r>
            <a:r>
              <a:rPr lang="en-US" dirty="0" err="1"/>
              <a:t>storeis</a:t>
            </a:r>
            <a:endParaRPr lang="en-PK" dirty="0"/>
          </a:p>
        </p:txBody>
      </p:sp>
      <p:sp>
        <p:nvSpPr>
          <p:cNvPr id="3" name="Content Placeholder 2">
            <a:extLst>
              <a:ext uri="{FF2B5EF4-FFF2-40B4-BE49-F238E27FC236}">
                <a16:creationId xmlns:a16="http://schemas.microsoft.com/office/drawing/2014/main" id="{185F5BBC-F693-4D72-AE62-3FA949DBAC0D}"/>
              </a:ext>
            </a:extLst>
          </p:cNvPr>
          <p:cNvSpPr>
            <a:spLocks noGrp="1"/>
          </p:cNvSpPr>
          <p:nvPr>
            <p:ph idx="1"/>
          </p:nvPr>
        </p:nvSpPr>
        <p:spPr/>
        <p:txBody>
          <a:bodyPr>
            <a:normAutofit/>
          </a:bodyPr>
          <a:lstStyle/>
          <a:p>
            <a:r>
              <a:rPr lang="en-US" dirty="0"/>
              <a:t>Facebook by Mark Zuckerberg: </a:t>
            </a:r>
            <a:r>
              <a:rPr lang="en-US" sz="2000" dirty="0">
                <a:solidFill>
                  <a:schemeClr val="bg1">
                    <a:lumMod val="50000"/>
                  </a:schemeClr>
                </a:solidFill>
                <a:hlinkClick r:id="rId2"/>
              </a:rPr>
              <a:t>https://www.investopedia.com/articles/personal-finance/081315/mark-zuckerberg-success-story-net-worth-education-top-quotes.asp</a:t>
            </a:r>
            <a:endParaRPr lang="en-US" sz="2000" dirty="0">
              <a:solidFill>
                <a:schemeClr val="bg1">
                  <a:lumMod val="50000"/>
                </a:schemeClr>
              </a:solidFill>
            </a:endParaRPr>
          </a:p>
          <a:p>
            <a:pPr lvl="1"/>
            <a:r>
              <a:rPr lang="en-US" sz="2800" dirty="0"/>
              <a:t>get users’ info and can provide trends e.g. </a:t>
            </a:r>
            <a:r>
              <a:rPr lang="en-US" sz="2800" dirty="0" err="1"/>
              <a:t>favourit</a:t>
            </a:r>
            <a:r>
              <a:rPr lang="en-US" sz="2800" dirty="0"/>
              <a:t> colors of females in specific area and other info)</a:t>
            </a:r>
          </a:p>
          <a:p>
            <a:r>
              <a:rPr lang="en-US" dirty="0"/>
              <a:t>Google.com </a:t>
            </a:r>
          </a:p>
          <a:p>
            <a:pPr lvl="1"/>
            <a:r>
              <a:rPr lang="en-US" dirty="0"/>
              <a:t>(search </a:t>
            </a:r>
            <a:r>
              <a:rPr lang="en-US" dirty="0" err="1"/>
              <a:t>engin</a:t>
            </a:r>
            <a:r>
              <a:rPr lang="en-US" dirty="0"/>
              <a:t> website, have not any ad on page, but use two way </a:t>
            </a:r>
            <a:r>
              <a:rPr lang="en-US" dirty="0" err="1"/>
              <a:t>mechanasim</a:t>
            </a:r>
            <a:r>
              <a:rPr lang="en-US" dirty="0"/>
              <a:t> to earn. website owner (</a:t>
            </a:r>
            <a:r>
              <a:rPr lang="en-US" dirty="0" err="1"/>
              <a:t>adsense</a:t>
            </a:r>
            <a:r>
              <a:rPr lang="en-US" dirty="0"/>
              <a:t>), clients for ads (</a:t>
            </a:r>
            <a:r>
              <a:rPr lang="en-US" dirty="0" err="1"/>
              <a:t>adword</a:t>
            </a:r>
            <a:r>
              <a:rPr lang="en-US" dirty="0"/>
              <a:t>))</a:t>
            </a:r>
          </a:p>
        </p:txBody>
      </p:sp>
    </p:spTree>
    <p:extLst>
      <p:ext uri="{BB962C8B-B14F-4D97-AF65-F5344CB8AC3E}">
        <p14:creationId xmlns:p14="http://schemas.microsoft.com/office/powerpoint/2010/main" val="238622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D7973-C887-4534-ACB1-B0BA9E0C6D80}"/>
              </a:ext>
            </a:extLst>
          </p:cNvPr>
          <p:cNvSpPr>
            <a:spLocks noGrp="1"/>
          </p:cNvSpPr>
          <p:nvPr>
            <p:ph type="title"/>
          </p:nvPr>
        </p:nvSpPr>
        <p:spPr/>
        <p:txBody>
          <a:bodyPr/>
          <a:lstStyle/>
          <a:p>
            <a:r>
              <a:rPr lang="en-US" dirty="0"/>
              <a:t>Successful Stories</a:t>
            </a:r>
            <a:endParaRPr lang="en-PK" dirty="0"/>
          </a:p>
        </p:txBody>
      </p:sp>
      <p:sp>
        <p:nvSpPr>
          <p:cNvPr id="3" name="Content Placeholder 2">
            <a:extLst>
              <a:ext uri="{FF2B5EF4-FFF2-40B4-BE49-F238E27FC236}">
                <a16:creationId xmlns:a16="http://schemas.microsoft.com/office/drawing/2014/main" id="{185F5BBC-F693-4D72-AE62-3FA949DBAC0D}"/>
              </a:ext>
            </a:extLst>
          </p:cNvPr>
          <p:cNvSpPr>
            <a:spLocks noGrp="1"/>
          </p:cNvSpPr>
          <p:nvPr>
            <p:ph idx="1"/>
          </p:nvPr>
        </p:nvSpPr>
        <p:spPr/>
        <p:txBody>
          <a:bodyPr>
            <a:normAutofit/>
          </a:bodyPr>
          <a:lstStyle/>
          <a:p>
            <a:r>
              <a:rPr lang="en-US" dirty="0"/>
              <a:t>Yourtube.com : online ads on videos</a:t>
            </a:r>
          </a:p>
          <a:p>
            <a:r>
              <a:rPr lang="en-US" dirty="0"/>
              <a:t>Yahoo.com  </a:t>
            </a:r>
          </a:p>
          <a:p>
            <a:r>
              <a:rPr lang="en-US" dirty="0">
                <a:hlinkClick r:id="rId2"/>
              </a:rPr>
              <a:t>Alibaba.com</a:t>
            </a:r>
            <a:endParaRPr lang="en-US" dirty="0"/>
          </a:p>
          <a:p>
            <a:pPr lvl="1"/>
            <a:r>
              <a:rPr lang="en-US" dirty="0"/>
              <a:t>The Inspiring Life Story Of Alibaba Founder Jack Ma, Now The Richest Man In China</a:t>
            </a:r>
          </a:p>
          <a:p>
            <a:pPr lvl="1"/>
            <a:r>
              <a:rPr lang="en-US" dirty="0">
                <a:hlinkClick r:id="rId3"/>
              </a:rPr>
              <a:t>https://www.shoutmeloud.com/jack-ma-alibaba-founder.html#:~:text=Jack%20Ma%20is%20the%20founder,IPO%20filing%20of%20his%20company</a:t>
            </a:r>
            <a:r>
              <a:rPr lang="en-US" dirty="0"/>
              <a:t>. </a:t>
            </a:r>
          </a:p>
          <a:p>
            <a:r>
              <a:rPr lang="en-US" dirty="0">
                <a:hlinkClick r:id="rId4"/>
              </a:rPr>
              <a:t>https://www.businessinsider.com/the-inspiring-life-story-of-alibaba-founder-jack-ma-2014-10</a:t>
            </a:r>
            <a:r>
              <a:rPr lang="en-US" dirty="0"/>
              <a:t> </a:t>
            </a:r>
          </a:p>
        </p:txBody>
      </p:sp>
    </p:spTree>
    <p:extLst>
      <p:ext uri="{BB962C8B-B14F-4D97-AF65-F5344CB8AC3E}">
        <p14:creationId xmlns:p14="http://schemas.microsoft.com/office/powerpoint/2010/main" val="1569585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D7973-C887-4534-ACB1-B0BA9E0C6D80}"/>
              </a:ext>
            </a:extLst>
          </p:cNvPr>
          <p:cNvSpPr>
            <a:spLocks noGrp="1"/>
          </p:cNvSpPr>
          <p:nvPr>
            <p:ph type="title"/>
          </p:nvPr>
        </p:nvSpPr>
        <p:spPr/>
        <p:txBody>
          <a:bodyPr/>
          <a:lstStyle/>
          <a:p>
            <a:r>
              <a:rPr lang="en-US" dirty="0"/>
              <a:t>Successful Stories</a:t>
            </a:r>
            <a:endParaRPr lang="en-PK" dirty="0"/>
          </a:p>
        </p:txBody>
      </p:sp>
      <p:sp>
        <p:nvSpPr>
          <p:cNvPr id="3" name="Content Placeholder 2">
            <a:extLst>
              <a:ext uri="{FF2B5EF4-FFF2-40B4-BE49-F238E27FC236}">
                <a16:creationId xmlns:a16="http://schemas.microsoft.com/office/drawing/2014/main" id="{185F5BBC-F693-4D72-AE62-3FA949DBAC0D}"/>
              </a:ext>
            </a:extLst>
          </p:cNvPr>
          <p:cNvSpPr>
            <a:spLocks noGrp="1"/>
          </p:cNvSpPr>
          <p:nvPr>
            <p:ph idx="1"/>
          </p:nvPr>
        </p:nvSpPr>
        <p:spPr/>
        <p:txBody>
          <a:bodyPr>
            <a:normAutofit/>
          </a:bodyPr>
          <a:lstStyle/>
          <a:p>
            <a:r>
              <a:rPr lang="en-US" dirty="0"/>
              <a:t>Yourtube.com : online ads on videos</a:t>
            </a:r>
          </a:p>
          <a:p>
            <a:r>
              <a:rPr lang="en-US" dirty="0"/>
              <a:t>Yahoo.com  </a:t>
            </a:r>
          </a:p>
          <a:p>
            <a:r>
              <a:rPr lang="en-US" dirty="0"/>
              <a:t>Microsoft  founders: </a:t>
            </a:r>
          </a:p>
          <a:p>
            <a:r>
              <a:rPr lang="en-US" dirty="0"/>
              <a:t>In 1975 Bill Gates and Paul G. Allen, two boyhood friends from Seattle, converted BASIC, a popular mainframe computer programming language, for use on an early personal computer (PC), the Altair. Shortly afterward, Gates and Allen founded Microsoft, deriving the name from the words microcomputer and software.</a:t>
            </a:r>
          </a:p>
        </p:txBody>
      </p:sp>
    </p:spTree>
    <p:extLst>
      <p:ext uri="{BB962C8B-B14F-4D97-AF65-F5344CB8AC3E}">
        <p14:creationId xmlns:p14="http://schemas.microsoft.com/office/powerpoint/2010/main" val="4065239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21BF1-34FA-4FE0-9CF4-B50A651AE81E}"/>
              </a:ext>
            </a:extLst>
          </p:cNvPr>
          <p:cNvSpPr>
            <a:spLocks noGrp="1"/>
          </p:cNvSpPr>
          <p:nvPr>
            <p:ph type="title"/>
          </p:nvPr>
        </p:nvSpPr>
        <p:spPr/>
        <p:txBody>
          <a:bodyPr/>
          <a:lstStyle/>
          <a:p>
            <a:r>
              <a:rPr lang="en-US" dirty="0"/>
              <a:t>Job opportunities after this course</a:t>
            </a:r>
            <a:endParaRPr lang="en-PK" dirty="0"/>
          </a:p>
        </p:txBody>
      </p:sp>
      <p:sp>
        <p:nvSpPr>
          <p:cNvPr id="3" name="Content Placeholder 2">
            <a:extLst>
              <a:ext uri="{FF2B5EF4-FFF2-40B4-BE49-F238E27FC236}">
                <a16:creationId xmlns:a16="http://schemas.microsoft.com/office/drawing/2014/main" id="{72D24142-E0CE-4BD4-AB4B-E8D980DCD9A3}"/>
              </a:ext>
            </a:extLst>
          </p:cNvPr>
          <p:cNvSpPr>
            <a:spLocks noGrp="1"/>
          </p:cNvSpPr>
          <p:nvPr>
            <p:ph idx="1"/>
          </p:nvPr>
        </p:nvSpPr>
        <p:spPr/>
        <p:txBody>
          <a:bodyPr/>
          <a:lstStyle/>
          <a:p>
            <a:r>
              <a:rPr lang="en-US" dirty="0"/>
              <a:t>Freelancing websites including:</a:t>
            </a:r>
          </a:p>
          <a:p>
            <a:pPr lvl="1"/>
            <a:r>
              <a:rPr lang="en-US" dirty="0"/>
              <a:t>Fiverr</a:t>
            </a:r>
          </a:p>
          <a:p>
            <a:pPr lvl="1"/>
            <a:r>
              <a:rPr lang="en-US" dirty="0"/>
              <a:t>Freelancing</a:t>
            </a:r>
          </a:p>
          <a:p>
            <a:pPr lvl="1"/>
            <a:r>
              <a:rPr lang="en-US" dirty="0"/>
              <a:t>Upwork</a:t>
            </a:r>
          </a:p>
          <a:p>
            <a:r>
              <a:rPr lang="en-US" dirty="0"/>
              <a:t>Govt Institutes</a:t>
            </a:r>
          </a:p>
          <a:p>
            <a:r>
              <a:rPr lang="en-US" dirty="0"/>
              <a:t>Software Houses</a:t>
            </a:r>
          </a:p>
          <a:p>
            <a:r>
              <a:rPr lang="en-US" dirty="0"/>
              <a:t>All private institutes who managing own and other websites</a:t>
            </a:r>
            <a:endParaRPr lang="en-PK" dirty="0"/>
          </a:p>
        </p:txBody>
      </p:sp>
    </p:spTree>
    <p:extLst>
      <p:ext uri="{BB962C8B-B14F-4D97-AF65-F5344CB8AC3E}">
        <p14:creationId xmlns:p14="http://schemas.microsoft.com/office/powerpoint/2010/main" val="2461646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AC93D-9B32-4A16-AEED-2087EB8F1FB5}"/>
              </a:ext>
            </a:extLst>
          </p:cNvPr>
          <p:cNvSpPr>
            <a:spLocks noGrp="1"/>
          </p:cNvSpPr>
          <p:nvPr>
            <p:ph type="title"/>
          </p:nvPr>
        </p:nvSpPr>
        <p:spPr/>
        <p:txBody>
          <a:bodyPr/>
          <a:lstStyle/>
          <a:p>
            <a:r>
              <a:rPr lang="en-US" dirty="0"/>
              <a:t>Courses Objectives</a:t>
            </a:r>
            <a:endParaRPr lang="en-PK" dirty="0"/>
          </a:p>
        </p:txBody>
      </p:sp>
      <p:sp>
        <p:nvSpPr>
          <p:cNvPr id="3" name="Content Placeholder 2">
            <a:extLst>
              <a:ext uri="{FF2B5EF4-FFF2-40B4-BE49-F238E27FC236}">
                <a16:creationId xmlns:a16="http://schemas.microsoft.com/office/drawing/2014/main" id="{ADA6C651-A264-48D1-A682-7797604F0427}"/>
              </a:ext>
            </a:extLst>
          </p:cNvPr>
          <p:cNvSpPr>
            <a:spLocks noGrp="1"/>
          </p:cNvSpPr>
          <p:nvPr>
            <p:ph idx="1"/>
          </p:nvPr>
        </p:nvSpPr>
        <p:spPr/>
        <p:txBody>
          <a:bodyPr>
            <a:normAutofit fontScale="70000" lnSpcReduction="20000"/>
          </a:bodyPr>
          <a:lstStyle/>
          <a:p>
            <a:r>
              <a:rPr lang="en-US" dirty="0"/>
              <a:t>Introduction to Web Development</a:t>
            </a:r>
          </a:p>
          <a:p>
            <a:r>
              <a:rPr lang="en-US" dirty="0"/>
              <a:t>Installation of Tools (Development and Running website)</a:t>
            </a:r>
          </a:p>
          <a:p>
            <a:r>
              <a:rPr lang="en-US" dirty="0"/>
              <a:t>HTML </a:t>
            </a:r>
          </a:p>
          <a:p>
            <a:r>
              <a:rPr lang="en-US" dirty="0"/>
              <a:t>CSS</a:t>
            </a:r>
          </a:p>
          <a:p>
            <a:r>
              <a:rPr lang="en-US" dirty="0"/>
              <a:t>PHP</a:t>
            </a:r>
          </a:p>
          <a:p>
            <a:r>
              <a:rPr lang="en-US" dirty="0"/>
              <a:t>Graphic Tools</a:t>
            </a:r>
          </a:p>
          <a:p>
            <a:r>
              <a:rPr lang="en-US" dirty="0"/>
              <a:t>Web Designing</a:t>
            </a:r>
          </a:p>
          <a:p>
            <a:r>
              <a:rPr lang="en-US" dirty="0"/>
              <a:t>Java Scripting</a:t>
            </a:r>
          </a:p>
          <a:p>
            <a:r>
              <a:rPr lang="en-US" dirty="0"/>
              <a:t>J Query</a:t>
            </a:r>
          </a:p>
          <a:p>
            <a:r>
              <a:rPr lang="en-US" dirty="0"/>
              <a:t>MySQL</a:t>
            </a:r>
          </a:p>
          <a:p>
            <a:r>
              <a:rPr lang="en-US" dirty="0"/>
              <a:t>AJAX</a:t>
            </a:r>
          </a:p>
          <a:p>
            <a:r>
              <a:rPr lang="en-US" dirty="0"/>
              <a:t>Laravel</a:t>
            </a:r>
          </a:p>
          <a:p>
            <a:endParaRPr lang="en-US" dirty="0"/>
          </a:p>
        </p:txBody>
      </p:sp>
    </p:spTree>
    <p:extLst>
      <p:ext uri="{BB962C8B-B14F-4D97-AF65-F5344CB8AC3E}">
        <p14:creationId xmlns:p14="http://schemas.microsoft.com/office/powerpoint/2010/main" val="1689916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7FD3D-E1AA-4C3B-A179-BD727D81A2D1}"/>
              </a:ext>
            </a:extLst>
          </p:cNvPr>
          <p:cNvSpPr>
            <a:spLocks noGrp="1"/>
          </p:cNvSpPr>
          <p:nvPr>
            <p:ph type="title"/>
          </p:nvPr>
        </p:nvSpPr>
        <p:spPr/>
        <p:txBody>
          <a:bodyPr/>
          <a:lstStyle/>
          <a:p>
            <a:r>
              <a:rPr lang="en-US" dirty="0"/>
              <a:t>Ethical Web Development</a:t>
            </a:r>
            <a:endParaRPr lang="en-PK" dirty="0"/>
          </a:p>
        </p:txBody>
      </p:sp>
      <p:sp>
        <p:nvSpPr>
          <p:cNvPr id="3" name="Content Placeholder 2">
            <a:extLst>
              <a:ext uri="{FF2B5EF4-FFF2-40B4-BE49-F238E27FC236}">
                <a16:creationId xmlns:a16="http://schemas.microsoft.com/office/drawing/2014/main" id="{AA0EA3C5-8463-412E-908F-78B1FC224E76}"/>
              </a:ext>
            </a:extLst>
          </p:cNvPr>
          <p:cNvSpPr>
            <a:spLocks noGrp="1"/>
          </p:cNvSpPr>
          <p:nvPr>
            <p:ph idx="1"/>
          </p:nvPr>
        </p:nvSpPr>
        <p:spPr/>
        <p:txBody>
          <a:bodyPr/>
          <a:lstStyle/>
          <a:p>
            <a:r>
              <a:rPr lang="en-US" dirty="0"/>
              <a:t>Web applications should work for everyone</a:t>
            </a:r>
          </a:p>
          <a:p>
            <a:r>
              <a:rPr lang="en-US" dirty="0"/>
              <a:t>eb applications should work everywhere</a:t>
            </a:r>
          </a:p>
          <a:p>
            <a:r>
              <a:rPr lang="en-US" dirty="0"/>
              <a:t>Web applications should respect a user's privacy and security</a:t>
            </a:r>
          </a:p>
          <a:p>
            <a:r>
              <a:rPr lang="en-US" dirty="0"/>
              <a:t>Don’t use copied multimedia, text and other contents including Images, videos </a:t>
            </a:r>
            <a:r>
              <a:rPr lang="en-US" dirty="0" err="1"/>
              <a:t>etc</a:t>
            </a:r>
            <a:r>
              <a:rPr lang="en-US" dirty="0"/>
              <a:t> on your with out permission of owner of that contents and as acknowledge by display information of source of you use it on your website</a:t>
            </a:r>
          </a:p>
          <a:p>
            <a:pPr marL="0" indent="0">
              <a:buNone/>
            </a:pPr>
            <a:r>
              <a:rPr lang="en-US" sz="2400" dirty="0">
                <a:solidFill>
                  <a:schemeClr val="bg1">
                    <a:lumMod val="50000"/>
                  </a:schemeClr>
                </a:solidFill>
              </a:rPr>
              <a:t>(https://www.ethicalweb.org/)</a:t>
            </a:r>
            <a:endParaRPr lang="en-PK" sz="2400" dirty="0">
              <a:solidFill>
                <a:schemeClr val="bg1">
                  <a:lumMod val="50000"/>
                </a:schemeClr>
              </a:solidFill>
            </a:endParaRPr>
          </a:p>
        </p:txBody>
      </p:sp>
    </p:spTree>
    <p:extLst>
      <p:ext uri="{BB962C8B-B14F-4D97-AF65-F5344CB8AC3E}">
        <p14:creationId xmlns:p14="http://schemas.microsoft.com/office/powerpoint/2010/main" val="243218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97C00-1B6E-46B3-B976-71627B1B26C7}"/>
              </a:ext>
            </a:extLst>
          </p:cNvPr>
          <p:cNvSpPr>
            <a:spLocks noGrp="1"/>
          </p:cNvSpPr>
          <p:nvPr>
            <p:ph type="title"/>
          </p:nvPr>
        </p:nvSpPr>
        <p:spPr/>
        <p:txBody>
          <a:bodyPr/>
          <a:lstStyle/>
          <a:p>
            <a:r>
              <a:rPr lang="en-US" dirty="0"/>
              <a:t>Cyber Crimes</a:t>
            </a:r>
            <a:endParaRPr lang="en-PK" dirty="0"/>
          </a:p>
        </p:txBody>
      </p:sp>
      <p:sp>
        <p:nvSpPr>
          <p:cNvPr id="3" name="Content Placeholder 2">
            <a:extLst>
              <a:ext uri="{FF2B5EF4-FFF2-40B4-BE49-F238E27FC236}">
                <a16:creationId xmlns:a16="http://schemas.microsoft.com/office/drawing/2014/main" id="{DEB0E9F8-FCEB-45DC-9A7E-836510BFFAE0}"/>
              </a:ext>
            </a:extLst>
          </p:cNvPr>
          <p:cNvSpPr>
            <a:spLocks noGrp="1"/>
          </p:cNvSpPr>
          <p:nvPr>
            <p:ph idx="1"/>
          </p:nvPr>
        </p:nvSpPr>
        <p:spPr/>
        <p:txBody>
          <a:bodyPr/>
          <a:lstStyle/>
          <a:p>
            <a:pPr marL="0" indent="0">
              <a:buNone/>
            </a:pPr>
            <a:r>
              <a:rPr lang="en-US" dirty="0"/>
              <a:t>Cybercrime is criminal activity that either targets or uses a computer, a computer network or a networked device. </a:t>
            </a:r>
            <a:r>
              <a:rPr lang="en-US" sz="2000" dirty="0">
                <a:hlinkClick r:id="rId2"/>
              </a:rPr>
              <a:t>https://www.kaspersky.com/resource-center/threats/what-is-cybercrime</a:t>
            </a:r>
            <a:endParaRPr lang="en-US" sz="2000" dirty="0"/>
          </a:p>
          <a:p>
            <a:r>
              <a:rPr lang="en-US" dirty="0"/>
              <a:t>Hacking</a:t>
            </a:r>
          </a:p>
          <a:p>
            <a:r>
              <a:rPr lang="en-US" dirty="0"/>
              <a:t>Financial Frauds</a:t>
            </a:r>
          </a:p>
          <a:p>
            <a:r>
              <a:rPr lang="en-US" dirty="0"/>
              <a:t>Digital Privacy (using other contents etc.)</a:t>
            </a:r>
          </a:p>
          <a:p>
            <a:r>
              <a:rPr lang="en-US" dirty="0"/>
              <a:t>DATA THEFT</a:t>
            </a:r>
          </a:p>
          <a:p>
            <a:r>
              <a:rPr lang="en-US" dirty="0"/>
              <a:t>IDENTITY THEFT</a:t>
            </a:r>
          </a:p>
          <a:p>
            <a:r>
              <a:rPr lang="en-US" dirty="0"/>
              <a:t>Database </a:t>
            </a:r>
            <a:r>
              <a:rPr lang="en-US" dirty="0" err="1"/>
              <a:t>Attachs</a:t>
            </a:r>
            <a:r>
              <a:rPr lang="en-US" dirty="0"/>
              <a:t> (SQL </a:t>
            </a:r>
            <a:r>
              <a:rPr lang="en-US" dirty="0" err="1"/>
              <a:t>injecte</a:t>
            </a:r>
            <a:r>
              <a:rPr lang="en-US" dirty="0"/>
              <a:t> </a:t>
            </a:r>
            <a:r>
              <a:rPr lang="en-US" dirty="0" err="1"/>
              <a:t>etc</a:t>
            </a:r>
            <a:r>
              <a:rPr lang="en-US" dirty="0"/>
              <a:t>)</a:t>
            </a:r>
          </a:p>
          <a:p>
            <a:endParaRPr lang="en-US" dirty="0"/>
          </a:p>
          <a:p>
            <a:endParaRPr lang="en-PK" dirty="0"/>
          </a:p>
        </p:txBody>
      </p:sp>
      <p:sp>
        <p:nvSpPr>
          <p:cNvPr id="5" name="TextBox 4">
            <a:extLst>
              <a:ext uri="{FF2B5EF4-FFF2-40B4-BE49-F238E27FC236}">
                <a16:creationId xmlns:a16="http://schemas.microsoft.com/office/drawing/2014/main" id="{3F566E63-DB09-4082-B640-CC596EE87E8E}"/>
              </a:ext>
            </a:extLst>
          </p:cNvPr>
          <p:cNvSpPr txBox="1"/>
          <p:nvPr/>
        </p:nvSpPr>
        <p:spPr>
          <a:xfrm>
            <a:off x="1117600" y="5988734"/>
            <a:ext cx="6096000" cy="646331"/>
          </a:xfrm>
          <a:prstGeom prst="rect">
            <a:avLst/>
          </a:prstGeom>
          <a:noFill/>
        </p:spPr>
        <p:txBody>
          <a:bodyPr wrap="square">
            <a:spAutoFit/>
          </a:bodyPr>
          <a:lstStyle/>
          <a:p>
            <a:r>
              <a:rPr lang="en-US" dirty="0"/>
              <a:t>http://www.fia.gov.pk/en/NR3C.php</a:t>
            </a:r>
          </a:p>
          <a:p>
            <a:endParaRPr lang="en-PK" dirty="0"/>
          </a:p>
        </p:txBody>
      </p:sp>
    </p:spTree>
    <p:extLst>
      <p:ext uri="{BB962C8B-B14F-4D97-AF65-F5344CB8AC3E}">
        <p14:creationId xmlns:p14="http://schemas.microsoft.com/office/powerpoint/2010/main" val="2534913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97C00-1B6E-46B3-B976-71627B1B26C7}"/>
              </a:ext>
            </a:extLst>
          </p:cNvPr>
          <p:cNvSpPr>
            <a:spLocks noGrp="1"/>
          </p:cNvSpPr>
          <p:nvPr>
            <p:ph type="title"/>
          </p:nvPr>
        </p:nvSpPr>
        <p:spPr/>
        <p:txBody>
          <a:bodyPr/>
          <a:lstStyle/>
          <a:p>
            <a:r>
              <a:rPr lang="en-US" dirty="0"/>
              <a:t>Cyber Crimes</a:t>
            </a:r>
            <a:endParaRPr lang="en-PK" dirty="0"/>
          </a:p>
        </p:txBody>
      </p:sp>
      <p:sp>
        <p:nvSpPr>
          <p:cNvPr id="3" name="Content Placeholder 2">
            <a:extLst>
              <a:ext uri="{FF2B5EF4-FFF2-40B4-BE49-F238E27FC236}">
                <a16:creationId xmlns:a16="http://schemas.microsoft.com/office/drawing/2014/main" id="{DEB0E9F8-FCEB-45DC-9A7E-836510BFFAE0}"/>
              </a:ext>
            </a:extLst>
          </p:cNvPr>
          <p:cNvSpPr>
            <a:spLocks noGrp="1"/>
          </p:cNvSpPr>
          <p:nvPr>
            <p:ph idx="1"/>
          </p:nvPr>
        </p:nvSpPr>
        <p:spPr/>
        <p:txBody>
          <a:bodyPr/>
          <a:lstStyle/>
          <a:p>
            <a:r>
              <a:rPr lang="en-US" b="1" i="0" dirty="0">
                <a:solidFill>
                  <a:srgbClr val="444444"/>
                </a:solidFill>
                <a:effectLst/>
                <a:latin typeface="MuseoSans"/>
              </a:rPr>
              <a:t>Phishing</a:t>
            </a:r>
          </a:p>
          <a:p>
            <a:pPr marL="0" indent="0">
              <a:buNone/>
            </a:pPr>
            <a:r>
              <a:rPr lang="en-US" dirty="0"/>
              <a:t>A phishing campaign is when spam emails, or other forms of communication, are sent massage, with the intention of tricking recipients into doing something that undermines their security or the security of the organization they work for.</a:t>
            </a:r>
          </a:p>
          <a:p>
            <a:pPr marL="0" indent="0">
              <a:buNone/>
            </a:pPr>
            <a:r>
              <a:rPr lang="en-US" dirty="0"/>
              <a:t>Phishing campaign messages may contain infected attachments or  links to malicious sites. Or they may ask the receiver to respond with confidential information</a:t>
            </a:r>
          </a:p>
          <a:p>
            <a:endParaRPr lang="en-PK" dirty="0"/>
          </a:p>
        </p:txBody>
      </p:sp>
      <p:sp>
        <p:nvSpPr>
          <p:cNvPr id="5" name="TextBox 4">
            <a:extLst>
              <a:ext uri="{FF2B5EF4-FFF2-40B4-BE49-F238E27FC236}">
                <a16:creationId xmlns:a16="http://schemas.microsoft.com/office/drawing/2014/main" id="{3F566E63-DB09-4082-B640-CC596EE87E8E}"/>
              </a:ext>
            </a:extLst>
          </p:cNvPr>
          <p:cNvSpPr txBox="1"/>
          <p:nvPr/>
        </p:nvSpPr>
        <p:spPr>
          <a:xfrm>
            <a:off x="1117600" y="5988734"/>
            <a:ext cx="6096000" cy="646331"/>
          </a:xfrm>
          <a:prstGeom prst="rect">
            <a:avLst/>
          </a:prstGeom>
          <a:noFill/>
        </p:spPr>
        <p:txBody>
          <a:bodyPr wrap="square">
            <a:spAutoFit/>
          </a:bodyPr>
          <a:lstStyle/>
          <a:p>
            <a:r>
              <a:rPr lang="en-US" dirty="0"/>
              <a:t>http://www.fia.gov.pk/en/NR3C.php</a:t>
            </a:r>
          </a:p>
          <a:p>
            <a:endParaRPr lang="en-PK" dirty="0"/>
          </a:p>
        </p:txBody>
      </p:sp>
    </p:spTree>
    <p:extLst>
      <p:ext uri="{BB962C8B-B14F-4D97-AF65-F5344CB8AC3E}">
        <p14:creationId xmlns:p14="http://schemas.microsoft.com/office/powerpoint/2010/main" val="3136988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F3479-8927-4140-B1FA-428B40D7CF6E}"/>
              </a:ext>
            </a:extLst>
          </p:cNvPr>
          <p:cNvSpPr>
            <a:spLocks noGrp="1"/>
          </p:cNvSpPr>
          <p:nvPr>
            <p:ph type="title"/>
          </p:nvPr>
        </p:nvSpPr>
        <p:spPr/>
        <p:txBody>
          <a:bodyPr/>
          <a:lstStyle/>
          <a:p>
            <a:r>
              <a:rPr lang="en-US" dirty="0"/>
              <a:t>World Wide Web (WWW)</a:t>
            </a:r>
            <a:endParaRPr lang="en-PK" dirty="0"/>
          </a:p>
        </p:txBody>
      </p:sp>
      <p:sp>
        <p:nvSpPr>
          <p:cNvPr id="3" name="Content Placeholder 2">
            <a:extLst>
              <a:ext uri="{FF2B5EF4-FFF2-40B4-BE49-F238E27FC236}">
                <a16:creationId xmlns:a16="http://schemas.microsoft.com/office/drawing/2014/main" id="{C1AE1535-84F6-477D-8B0F-05A4D546DB8E}"/>
              </a:ext>
            </a:extLst>
          </p:cNvPr>
          <p:cNvSpPr>
            <a:spLocks noGrp="1"/>
          </p:cNvSpPr>
          <p:nvPr>
            <p:ph idx="1"/>
          </p:nvPr>
        </p:nvSpPr>
        <p:spPr/>
        <p:txBody>
          <a:bodyPr/>
          <a:lstStyle/>
          <a:p>
            <a:r>
              <a:rPr lang="en-US" dirty="0"/>
              <a:t>World Wide Web, which is also known as a Web, is a collection of websites or web pages stored in web servers and connected to local computers through the internet.</a:t>
            </a:r>
          </a:p>
          <a:p>
            <a:r>
              <a:rPr lang="en-US" dirty="0"/>
              <a:t>These websites contain text pages, digital images, audios, videos, etc.</a:t>
            </a:r>
          </a:p>
          <a:p>
            <a:r>
              <a:rPr lang="en-US" dirty="0"/>
              <a:t> Users can access the content of these sites from any part of the world over the internet using their devices such as computers, laptops, cell phones, etc. </a:t>
            </a:r>
          </a:p>
          <a:p>
            <a:r>
              <a:rPr lang="en-US" dirty="0"/>
              <a:t>The WWW, along with internet, enables the retrieval and display of text and media to your device. </a:t>
            </a:r>
            <a:r>
              <a:rPr lang="en-US" sz="2000" dirty="0">
                <a:solidFill>
                  <a:schemeClr val="bg1">
                    <a:lumMod val="50000"/>
                  </a:schemeClr>
                </a:solidFill>
                <a:hlinkClick r:id="rId2"/>
              </a:rPr>
              <a:t>https://www.javatpoint.com/what-is-world-wide-web</a:t>
            </a:r>
            <a:endParaRPr lang="en-US" sz="2000" dirty="0">
              <a:solidFill>
                <a:schemeClr val="bg1">
                  <a:lumMod val="50000"/>
                </a:schemeClr>
              </a:solidFill>
            </a:endParaRPr>
          </a:p>
          <a:p>
            <a:endParaRPr lang="en-PK" dirty="0">
              <a:solidFill>
                <a:schemeClr val="bg1">
                  <a:lumMod val="50000"/>
                </a:schemeClr>
              </a:solidFill>
            </a:endParaRPr>
          </a:p>
        </p:txBody>
      </p:sp>
    </p:spTree>
    <p:extLst>
      <p:ext uri="{BB962C8B-B14F-4D97-AF65-F5344CB8AC3E}">
        <p14:creationId xmlns:p14="http://schemas.microsoft.com/office/powerpoint/2010/main" val="1836486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84D58-0BC5-4989-90A1-9CC5276EA2B4}"/>
              </a:ext>
            </a:extLst>
          </p:cNvPr>
          <p:cNvSpPr>
            <a:spLocks noGrp="1"/>
          </p:cNvSpPr>
          <p:nvPr>
            <p:ph type="title"/>
          </p:nvPr>
        </p:nvSpPr>
        <p:spPr/>
        <p:txBody>
          <a:bodyPr/>
          <a:lstStyle/>
          <a:p>
            <a:r>
              <a:rPr lang="en-US" dirty="0"/>
              <a:t>World Wide Web (WWW)</a:t>
            </a:r>
            <a:endParaRPr lang="en-PK" dirty="0"/>
          </a:p>
        </p:txBody>
      </p:sp>
      <p:sp>
        <p:nvSpPr>
          <p:cNvPr id="3" name="Content Placeholder 2">
            <a:extLst>
              <a:ext uri="{FF2B5EF4-FFF2-40B4-BE49-F238E27FC236}">
                <a16:creationId xmlns:a16="http://schemas.microsoft.com/office/drawing/2014/main" id="{7FF5F6E1-D387-46C6-8CCE-A7B7CF0355B6}"/>
              </a:ext>
            </a:extLst>
          </p:cNvPr>
          <p:cNvSpPr>
            <a:spLocks noGrp="1"/>
          </p:cNvSpPr>
          <p:nvPr>
            <p:ph idx="1"/>
          </p:nvPr>
        </p:nvSpPr>
        <p:spPr/>
        <p:txBody>
          <a:bodyPr/>
          <a:lstStyle/>
          <a:p>
            <a:r>
              <a:rPr lang="en-US" dirty="0"/>
              <a:t>The building blocks of the Web are web pages which are formatted in HTML and connected by links called "hypertext" or hyperlinks and accessed by HTTP.</a:t>
            </a:r>
          </a:p>
          <a:p>
            <a:r>
              <a:rPr lang="en-US" dirty="0"/>
              <a:t>These links are electronic connections that link related pieces of information so that users can access the desired information quickly.</a:t>
            </a:r>
          </a:p>
          <a:p>
            <a:r>
              <a:rPr lang="en-US" dirty="0"/>
              <a:t>A web page is given an online address called a Uniform Resource Locator (URL).</a:t>
            </a:r>
          </a:p>
          <a:p>
            <a:r>
              <a:rPr lang="en-US" dirty="0"/>
              <a:t>A particular collection of web pages that belong to a specific URL is called a website. E.g. </a:t>
            </a:r>
            <a:r>
              <a:rPr lang="en-US" dirty="0">
                <a:hlinkClick r:id="rId2"/>
              </a:rPr>
              <a:t>www.facebook.com</a:t>
            </a:r>
            <a:r>
              <a:rPr lang="en-US" dirty="0"/>
              <a:t>, </a:t>
            </a:r>
            <a:r>
              <a:rPr lang="en-US" dirty="0">
                <a:hlinkClick r:id="rId3"/>
              </a:rPr>
              <a:t>www.google.com</a:t>
            </a:r>
            <a:r>
              <a:rPr lang="en-US" dirty="0"/>
              <a:t> </a:t>
            </a:r>
            <a:endParaRPr lang="en-PK" dirty="0"/>
          </a:p>
        </p:txBody>
      </p:sp>
    </p:spTree>
    <p:extLst>
      <p:ext uri="{BB962C8B-B14F-4D97-AF65-F5344CB8AC3E}">
        <p14:creationId xmlns:p14="http://schemas.microsoft.com/office/powerpoint/2010/main" val="2341793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84D58-0BC5-4989-90A1-9CC5276EA2B4}"/>
              </a:ext>
            </a:extLst>
          </p:cNvPr>
          <p:cNvSpPr>
            <a:spLocks noGrp="1"/>
          </p:cNvSpPr>
          <p:nvPr>
            <p:ph type="title"/>
          </p:nvPr>
        </p:nvSpPr>
        <p:spPr/>
        <p:txBody>
          <a:bodyPr/>
          <a:lstStyle/>
          <a:p>
            <a:r>
              <a:rPr lang="en-US" dirty="0"/>
              <a:t>World Wide Web (WWW)</a:t>
            </a:r>
            <a:endParaRPr lang="en-PK" dirty="0"/>
          </a:p>
        </p:txBody>
      </p:sp>
      <p:sp>
        <p:nvSpPr>
          <p:cNvPr id="3" name="Content Placeholder 2">
            <a:extLst>
              <a:ext uri="{FF2B5EF4-FFF2-40B4-BE49-F238E27FC236}">
                <a16:creationId xmlns:a16="http://schemas.microsoft.com/office/drawing/2014/main" id="{7FF5F6E1-D387-46C6-8CCE-A7B7CF0355B6}"/>
              </a:ext>
            </a:extLst>
          </p:cNvPr>
          <p:cNvSpPr>
            <a:spLocks noGrp="1"/>
          </p:cNvSpPr>
          <p:nvPr>
            <p:ph idx="1"/>
          </p:nvPr>
        </p:nvSpPr>
        <p:spPr/>
        <p:txBody>
          <a:bodyPr/>
          <a:lstStyle/>
          <a:p>
            <a:r>
              <a:rPr lang="en-US" dirty="0"/>
              <a:t>So, the </a:t>
            </a:r>
            <a:r>
              <a:rPr lang="en-US" b="1" dirty="0"/>
              <a:t>World Wide Web (WWW) </a:t>
            </a:r>
            <a:r>
              <a:rPr lang="en-US" dirty="0"/>
              <a:t>is like a huge electronic book whose pages are stored on multiple servers across the world.</a:t>
            </a:r>
          </a:p>
          <a:p>
            <a:r>
              <a:rPr lang="en-US" dirty="0"/>
              <a:t>Normally, Small websites store all of their </a:t>
            </a:r>
            <a:r>
              <a:rPr lang="en-US" dirty="0" err="1"/>
              <a:t>WebPages</a:t>
            </a:r>
            <a:r>
              <a:rPr lang="en-US" dirty="0"/>
              <a:t> on a single server, but big websites or organizations place their </a:t>
            </a:r>
            <a:r>
              <a:rPr lang="en-US" dirty="0" err="1"/>
              <a:t>WebPages</a:t>
            </a:r>
            <a:r>
              <a:rPr lang="en-US" dirty="0"/>
              <a:t> on different servers in different countries so that when users of a country search their site they could get the information quickly from the nearest server.</a:t>
            </a:r>
          </a:p>
          <a:p>
            <a:endParaRPr lang="en-PK" dirty="0"/>
          </a:p>
        </p:txBody>
      </p:sp>
    </p:spTree>
    <p:extLst>
      <p:ext uri="{BB962C8B-B14F-4D97-AF65-F5344CB8AC3E}">
        <p14:creationId xmlns:p14="http://schemas.microsoft.com/office/powerpoint/2010/main" val="1375319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F9D9E-C5CE-4484-8778-D12030A052CC}"/>
              </a:ext>
            </a:extLst>
          </p:cNvPr>
          <p:cNvSpPr>
            <a:spLocks noGrp="1"/>
          </p:cNvSpPr>
          <p:nvPr>
            <p:ph type="title"/>
          </p:nvPr>
        </p:nvSpPr>
        <p:spPr/>
        <p:txBody>
          <a:bodyPr/>
          <a:lstStyle/>
          <a:p>
            <a:r>
              <a:rPr lang="en-US" dirty="0"/>
              <a:t>Difference between World Wide Web and Internet</a:t>
            </a:r>
            <a:endParaRPr lang="en-PK" dirty="0"/>
          </a:p>
        </p:txBody>
      </p:sp>
      <p:sp>
        <p:nvSpPr>
          <p:cNvPr id="3" name="Content Placeholder 2">
            <a:extLst>
              <a:ext uri="{FF2B5EF4-FFF2-40B4-BE49-F238E27FC236}">
                <a16:creationId xmlns:a16="http://schemas.microsoft.com/office/drawing/2014/main" id="{F1063C4B-5250-4974-90E6-D8E9922AF7D2}"/>
              </a:ext>
            </a:extLst>
          </p:cNvPr>
          <p:cNvSpPr>
            <a:spLocks noGrp="1"/>
          </p:cNvSpPr>
          <p:nvPr>
            <p:ph idx="1"/>
          </p:nvPr>
        </p:nvSpPr>
        <p:spPr/>
        <p:txBody>
          <a:bodyPr/>
          <a:lstStyle/>
          <a:p>
            <a:r>
              <a:rPr lang="en-US" dirty="0"/>
              <a:t>Some people use the terms 'internet' and 'World Wide Web' interchangeably. </a:t>
            </a:r>
          </a:p>
          <a:p>
            <a:r>
              <a:rPr lang="en-US" dirty="0"/>
              <a:t>But World Wide Web and Internet are not same terms</a:t>
            </a:r>
          </a:p>
          <a:p>
            <a:r>
              <a:rPr lang="en-US" dirty="0"/>
              <a:t>Internet is entirely different from WWW</a:t>
            </a:r>
          </a:p>
        </p:txBody>
      </p:sp>
      <p:sp>
        <p:nvSpPr>
          <p:cNvPr id="5" name="TextBox 4">
            <a:extLst>
              <a:ext uri="{FF2B5EF4-FFF2-40B4-BE49-F238E27FC236}">
                <a16:creationId xmlns:a16="http://schemas.microsoft.com/office/drawing/2014/main" id="{144E601C-E8ED-43B8-9B7F-7D3A2E91C1D1}"/>
              </a:ext>
            </a:extLst>
          </p:cNvPr>
          <p:cNvSpPr txBox="1"/>
          <p:nvPr/>
        </p:nvSpPr>
        <p:spPr>
          <a:xfrm>
            <a:off x="943429" y="6127234"/>
            <a:ext cx="6096000" cy="369332"/>
          </a:xfrm>
          <a:prstGeom prst="rect">
            <a:avLst/>
          </a:prstGeom>
          <a:noFill/>
        </p:spPr>
        <p:txBody>
          <a:bodyPr wrap="square">
            <a:spAutoFit/>
          </a:bodyPr>
          <a:lstStyle/>
          <a:p>
            <a:r>
              <a:rPr lang="en-PK" dirty="0"/>
              <a:t>https://www.javatpoint.com/what-is-world-wide-web</a:t>
            </a:r>
          </a:p>
        </p:txBody>
      </p:sp>
      <p:pic>
        <p:nvPicPr>
          <p:cNvPr id="1026" name="Picture 2" descr="What is World Wide Web">
            <a:extLst>
              <a:ext uri="{FF2B5EF4-FFF2-40B4-BE49-F238E27FC236}">
                <a16:creationId xmlns:a16="http://schemas.microsoft.com/office/drawing/2014/main" id="{C2AB4F77-D944-4813-8457-9883422C84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5981" y="2485222"/>
            <a:ext cx="4331787" cy="3642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844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F9D9E-C5CE-4484-8778-D12030A052CC}"/>
              </a:ext>
            </a:extLst>
          </p:cNvPr>
          <p:cNvSpPr>
            <a:spLocks noGrp="1"/>
          </p:cNvSpPr>
          <p:nvPr>
            <p:ph type="title"/>
          </p:nvPr>
        </p:nvSpPr>
        <p:spPr/>
        <p:txBody>
          <a:bodyPr/>
          <a:lstStyle/>
          <a:p>
            <a:r>
              <a:rPr lang="en-US" dirty="0"/>
              <a:t>Difference between World Wide Web and Internet</a:t>
            </a:r>
            <a:endParaRPr lang="en-PK" dirty="0"/>
          </a:p>
        </p:txBody>
      </p:sp>
      <p:sp>
        <p:nvSpPr>
          <p:cNvPr id="3" name="Content Placeholder 2">
            <a:extLst>
              <a:ext uri="{FF2B5EF4-FFF2-40B4-BE49-F238E27FC236}">
                <a16:creationId xmlns:a16="http://schemas.microsoft.com/office/drawing/2014/main" id="{F1063C4B-5250-4974-90E6-D8E9922AF7D2}"/>
              </a:ext>
            </a:extLst>
          </p:cNvPr>
          <p:cNvSpPr>
            <a:spLocks noGrp="1"/>
          </p:cNvSpPr>
          <p:nvPr>
            <p:ph idx="1"/>
          </p:nvPr>
        </p:nvSpPr>
        <p:spPr/>
        <p:txBody>
          <a:bodyPr/>
          <a:lstStyle/>
          <a:p>
            <a:r>
              <a:rPr lang="en-US" b="1" dirty="0"/>
              <a:t>Internet</a:t>
            </a:r>
            <a:r>
              <a:rPr lang="en-US" dirty="0"/>
              <a:t>:</a:t>
            </a:r>
          </a:p>
          <a:p>
            <a:pPr lvl="1"/>
            <a:r>
              <a:rPr lang="en-US" dirty="0"/>
              <a:t> worldwide network of devices like computers, laptops, tablets, </a:t>
            </a:r>
            <a:r>
              <a:rPr lang="en-US" dirty="0" err="1"/>
              <a:t>etc</a:t>
            </a:r>
            <a:endParaRPr lang="en-US" dirty="0"/>
          </a:p>
          <a:p>
            <a:pPr lvl="1"/>
            <a:r>
              <a:rPr lang="en-US" dirty="0"/>
              <a:t>It enables users to send emails to other users and chat with them online. For example, when you send an email or chatting with someone online, you are using the internet.</a:t>
            </a:r>
          </a:p>
          <a:p>
            <a:pPr lvl="1"/>
            <a:endParaRPr lang="en-PK" dirty="0"/>
          </a:p>
        </p:txBody>
      </p:sp>
      <p:sp>
        <p:nvSpPr>
          <p:cNvPr id="5" name="TextBox 4">
            <a:extLst>
              <a:ext uri="{FF2B5EF4-FFF2-40B4-BE49-F238E27FC236}">
                <a16:creationId xmlns:a16="http://schemas.microsoft.com/office/drawing/2014/main" id="{144E601C-E8ED-43B8-9B7F-7D3A2E91C1D1}"/>
              </a:ext>
            </a:extLst>
          </p:cNvPr>
          <p:cNvSpPr txBox="1"/>
          <p:nvPr/>
        </p:nvSpPr>
        <p:spPr>
          <a:xfrm>
            <a:off x="1036320" y="5792802"/>
            <a:ext cx="6096000" cy="369332"/>
          </a:xfrm>
          <a:prstGeom prst="rect">
            <a:avLst/>
          </a:prstGeom>
          <a:noFill/>
        </p:spPr>
        <p:txBody>
          <a:bodyPr wrap="square">
            <a:spAutoFit/>
          </a:bodyPr>
          <a:lstStyle/>
          <a:p>
            <a:r>
              <a:rPr lang="en-PK" dirty="0"/>
              <a:t>https://www.javatpoint.com/what-is-world-wide-web</a:t>
            </a:r>
          </a:p>
        </p:txBody>
      </p:sp>
    </p:spTree>
    <p:extLst>
      <p:ext uri="{BB962C8B-B14F-4D97-AF65-F5344CB8AC3E}">
        <p14:creationId xmlns:p14="http://schemas.microsoft.com/office/powerpoint/2010/main" val="3675901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FD46B-E386-4A58-A18F-5603132CB440}"/>
              </a:ext>
            </a:extLst>
          </p:cNvPr>
          <p:cNvSpPr>
            <a:spLocks noGrp="1"/>
          </p:cNvSpPr>
          <p:nvPr>
            <p:ph type="title"/>
          </p:nvPr>
        </p:nvSpPr>
        <p:spPr/>
        <p:txBody>
          <a:bodyPr/>
          <a:lstStyle/>
          <a:p>
            <a:r>
              <a:rPr lang="en-US" dirty="0"/>
              <a:t>Internet</a:t>
            </a:r>
            <a:endParaRPr lang="en-PK" dirty="0"/>
          </a:p>
        </p:txBody>
      </p:sp>
      <p:pic>
        <p:nvPicPr>
          <p:cNvPr id="6" name="Picture 5">
            <a:extLst>
              <a:ext uri="{FF2B5EF4-FFF2-40B4-BE49-F238E27FC236}">
                <a16:creationId xmlns:a16="http://schemas.microsoft.com/office/drawing/2014/main" id="{174AC7B7-9B37-406B-946E-97657DD6D426}"/>
              </a:ext>
            </a:extLst>
          </p:cNvPr>
          <p:cNvPicPr>
            <a:picLocks noChangeAspect="1"/>
          </p:cNvPicPr>
          <p:nvPr/>
        </p:nvPicPr>
        <p:blipFill>
          <a:blip r:embed="rId2"/>
          <a:stretch>
            <a:fillRect/>
          </a:stretch>
        </p:blipFill>
        <p:spPr>
          <a:xfrm>
            <a:off x="4992914" y="1227523"/>
            <a:ext cx="7199086" cy="5084354"/>
          </a:xfrm>
          <a:prstGeom prst="rect">
            <a:avLst/>
          </a:prstGeom>
        </p:spPr>
      </p:pic>
      <p:sp>
        <p:nvSpPr>
          <p:cNvPr id="10" name="TextBox 9">
            <a:extLst>
              <a:ext uri="{FF2B5EF4-FFF2-40B4-BE49-F238E27FC236}">
                <a16:creationId xmlns:a16="http://schemas.microsoft.com/office/drawing/2014/main" id="{225938AE-1539-4D18-B8CD-F57B6569CEFB}"/>
              </a:ext>
            </a:extLst>
          </p:cNvPr>
          <p:cNvSpPr txBox="1"/>
          <p:nvPr/>
        </p:nvSpPr>
        <p:spPr>
          <a:xfrm>
            <a:off x="711200" y="6307670"/>
            <a:ext cx="8113486" cy="369332"/>
          </a:xfrm>
          <a:prstGeom prst="rect">
            <a:avLst/>
          </a:prstGeom>
          <a:noFill/>
        </p:spPr>
        <p:txBody>
          <a:bodyPr wrap="square">
            <a:spAutoFit/>
          </a:bodyPr>
          <a:lstStyle/>
          <a:p>
            <a:r>
              <a:rPr lang="en-PK" dirty="0"/>
              <a:t>https://www.conceptdraw.com/examples/router-switch-server-diagram</a:t>
            </a:r>
          </a:p>
        </p:txBody>
      </p:sp>
      <p:sp>
        <p:nvSpPr>
          <p:cNvPr id="11" name="TextBox 10">
            <a:extLst>
              <a:ext uri="{FF2B5EF4-FFF2-40B4-BE49-F238E27FC236}">
                <a16:creationId xmlns:a16="http://schemas.microsoft.com/office/drawing/2014/main" id="{E1EA8B64-83A0-4900-872A-07B6540EB030}"/>
              </a:ext>
            </a:extLst>
          </p:cNvPr>
          <p:cNvSpPr txBox="1"/>
          <p:nvPr/>
        </p:nvSpPr>
        <p:spPr>
          <a:xfrm>
            <a:off x="406400" y="1857829"/>
            <a:ext cx="4107543" cy="3139321"/>
          </a:xfrm>
          <a:prstGeom prst="rect">
            <a:avLst/>
          </a:prstGeom>
          <a:noFill/>
        </p:spPr>
        <p:txBody>
          <a:bodyPr wrap="square" rtlCol="0">
            <a:spAutoFit/>
          </a:bodyPr>
          <a:lstStyle/>
          <a:p>
            <a:pPr marL="342900" indent="-342900">
              <a:buFont typeface="Wingdings" panose="05000000000000000000" pitchFamily="2" charset="2"/>
              <a:buChar char="ü"/>
            </a:pPr>
            <a:r>
              <a:rPr lang="en-US" sz="2000" dirty="0"/>
              <a:t>Twisted Pair Cable</a:t>
            </a:r>
          </a:p>
          <a:p>
            <a:pPr marL="342900" indent="-342900">
              <a:buFont typeface="Wingdings" panose="05000000000000000000" pitchFamily="2" charset="2"/>
              <a:buChar char="ü"/>
            </a:pPr>
            <a:r>
              <a:rPr lang="en-US" sz="2000" dirty="0"/>
              <a:t>Connectors E.g. RJ45</a:t>
            </a:r>
          </a:p>
          <a:p>
            <a:pPr marL="342900" indent="-342900">
              <a:buFont typeface="Wingdings" panose="05000000000000000000" pitchFamily="2" charset="2"/>
              <a:buChar char="ü"/>
            </a:pPr>
            <a:r>
              <a:rPr lang="en-US" sz="2000" dirty="0"/>
              <a:t>Fiber Cable e.g. submarine  </a:t>
            </a:r>
          </a:p>
          <a:p>
            <a:pPr marL="342900" indent="-342900">
              <a:buFont typeface="Wingdings" panose="05000000000000000000" pitchFamily="2" charset="2"/>
              <a:buChar char="ü"/>
            </a:pPr>
            <a:r>
              <a:rPr lang="en-US" sz="2000" dirty="0" err="1"/>
              <a:t>Wifi</a:t>
            </a:r>
            <a:r>
              <a:rPr lang="en-US" sz="2000" dirty="0"/>
              <a:t> Access Point</a:t>
            </a:r>
          </a:p>
          <a:p>
            <a:pPr marL="342900" indent="-342900">
              <a:buFont typeface="Wingdings" panose="05000000000000000000" pitchFamily="2" charset="2"/>
              <a:buChar char="ü"/>
            </a:pPr>
            <a:r>
              <a:rPr lang="en-US" sz="2000" dirty="0" err="1"/>
              <a:t>Nework</a:t>
            </a:r>
            <a:r>
              <a:rPr lang="en-US" sz="2000" dirty="0"/>
              <a:t> Switches</a:t>
            </a:r>
          </a:p>
          <a:p>
            <a:pPr marL="342900" indent="-342900">
              <a:buFont typeface="Wingdings" panose="05000000000000000000" pitchFamily="2" charset="2"/>
              <a:buChar char="ü"/>
            </a:pPr>
            <a:r>
              <a:rPr lang="en-US" sz="2000" dirty="0"/>
              <a:t>Network Routers</a:t>
            </a:r>
          </a:p>
          <a:p>
            <a:pPr marL="342900" indent="-342900">
              <a:buFont typeface="Wingdings" panose="05000000000000000000" pitchFamily="2" charset="2"/>
              <a:buChar char="ü"/>
            </a:pPr>
            <a:r>
              <a:rPr lang="en-US" sz="2000" dirty="0"/>
              <a:t>Server computers</a:t>
            </a:r>
          </a:p>
          <a:p>
            <a:pPr marL="342900" indent="-342900">
              <a:buFont typeface="Wingdings" panose="05000000000000000000" pitchFamily="2" charset="2"/>
              <a:buChar char="ü"/>
            </a:pPr>
            <a:r>
              <a:rPr lang="en-US" sz="2000" dirty="0"/>
              <a:t>Clients Computers</a:t>
            </a:r>
          </a:p>
          <a:p>
            <a:pPr marL="342900" indent="-342900">
              <a:buFont typeface="Wingdings" panose="05000000000000000000" pitchFamily="2" charset="2"/>
              <a:buChar char="ü"/>
            </a:pPr>
            <a:r>
              <a:rPr lang="en-US" sz="2000" dirty="0"/>
              <a:t>Mobile Devices </a:t>
            </a:r>
            <a:r>
              <a:rPr lang="en-US" sz="2000" dirty="0" err="1"/>
              <a:t>etc</a:t>
            </a:r>
            <a:endParaRPr lang="en-US" sz="2000" dirty="0"/>
          </a:p>
          <a:p>
            <a:endParaRPr lang="en-US" dirty="0"/>
          </a:p>
        </p:txBody>
      </p:sp>
    </p:spTree>
    <p:extLst>
      <p:ext uri="{BB962C8B-B14F-4D97-AF65-F5344CB8AC3E}">
        <p14:creationId xmlns:p14="http://schemas.microsoft.com/office/powerpoint/2010/main" val="1659461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F9D9E-C5CE-4484-8778-D12030A052CC}"/>
              </a:ext>
            </a:extLst>
          </p:cNvPr>
          <p:cNvSpPr>
            <a:spLocks noGrp="1"/>
          </p:cNvSpPr>
          <p:nvPr>
            <p:ph type="title"/>
          </p:nvPr>
        </p:nvSpPr>
        <p:spPr/>
        <p:txBody>
          <a:bodyPr/>
          <a:lstStyle/>
          <a:p>
            <a:r>
              <a:rPr lang="en-US" dirty="0"/>
              <a:t>Difference between World Wide Web and Internet</a:t>
            </a:r>
            <a:endParaRPr lang="en-PK" dirty="0"/>
          </a:p>
        </p:txBody>
      </p:sp>
      <p:sp>
        <p:nvSpPr>
          <p:cNvPr id="3" name="Content Placeholder 2">
            <a:extLst>
              <a:ext uri="{FF2B5EF4-FFF2-40B4-BE49-F238E27FC236}">
                <a16:creationId xmlns:a16="http://schemas.microsoft.com/office/drawing/2014/main" id="{F1063C4B-5250-4974-90E6-D8E9922AF7D2}"/>
              </a:ext>
            </a:extLst>
          </p:cNvPr>
          <p:cNvSpPr>
            <a:spLocks noGrp="1"/>
          </p:cNvSpPr>
          <p:nvPr>
            <p:ph idx="1"/>
          </p:nvPr>
        </p:nvSpPr>
        <p:spPr/>
        <p:txBody>
          <a:bodyPr/>
          <a:lstStyle/>
          <a:p>
            <a:r>
              <a:rPr lang="en-US" b="1" dirty="0"/>
              <a:t>World Wide Web</a:t>
            </a:r>
            <a:r>
              <a:rPr lang="en-US" dirty="0"/>
              <a:t>:</a:t>
            </a:r>
          </a:p>
          <a:p>
            <a:pPr lvl="1"/>
            <a:r>
              <a:rPr lang="en-US" dirty="0"/>
              <a:t> when you have opened a website like google.com for information, you are using the World Wide Web; a network of servers over the internet</a:t>
            </a:r>
          </a:p>
          <a:p>
            <a:pPr lvl="1"/>
            <a:r>
              <a:rPr lang="en-US" dirty="0"/>
              <a:t>You request a webpage from your computer using a browser, and the server renders that page to your browser. Your computer is called a client who runs a program (web browser), and asks the other computer (server) for the information it needs. Which is called web hosted server.</a:t>
            </a:r>
          </a:p>
          <a:p>
            <a:pPr lvl="1"/>
            <a:endParaRPr lang="en-PK" dirty="0"/>
          </a:p>
        </p:txBody>
      </p:sp>
      <p:sp>
        <p:nvSpPr>
          <p:cNvPr id="5" name="TextBox 4">
            <a:extLst>
              <a:ext uri="{FF2B5EF4-FFF2-40B4-BE49-F238E27FC236}">
                <a16:creationId xmlns:a16="http://schemas.microsoft.com/office/drawing/2014/main" id="{144E601C-E8ED-43B8-9B7F-7D3A2E91C1D1}"/>
              </a:ext>
            </a:extLst>
          </p:cNvPr>
          <p:cNvSpPr txBox="1"/>
          <p:nvPr/>
        </p:nvSpPr>
        <p:spPr>
          <a:xfrm>
            <a:off x="943429" y="6127234"/>
            <a:ext cx="6096000" cy="369332"/>
          </a:xfrm>
          <a:prstGeom prst="rect">
            <a:avLst/>
          </a:prstGeom>
          <a:noFill/>
        </p:spPr>
        <p:txBody>
          <a:bodyPr wrap="square">
            <a:spAutoFit/>
          </a:bodyPr>
          <a:lstStyle/>
          <a:p>
            <a:r>
              <a:rPr lang="en-PK" dirty="0"/>
              <a:t>https://www.javatpoint.com/what-is-world-wide-web</a:t>
            </a:r>
          </a:p>
        </p:txBody>
      </p:sp>
    </p:spTree>
    <p:extLst>
      <p:ext uri="{BB962C8B-B14F-4D97-AF65-F5344CB8AC3E}">
        <p14:creationId xmlns:p14="http://schemas.microsoft.com/office/powerpoint/2010/main" val="559574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8C6F-3A53-45BC-AD9D-13B8879AC4B2}"/>
              </a:ext>
            </a:extLst>
          </p:cNvPr>
          <p:cNvSpPr>
            <a:spLocks noGrp="1"/>
          </p:cNvSpPr>
          <p:nvPr>
            <p:ph type="title"/>
          </p:nvPr>
        </p:nvSpPr>
        <p:spPr/>
        <p:txBody>
          <a:bodyPr/>
          <a:lstStyle/>
          <a:p>
            <a:r>
              <a:rPr lang="en-US" dirty="0"/>
              <a:t>World Wide Web (WWW)</a:t>
            </a:r>
            <a:endParaRPr lang="en-PK" dirty="0"/>
          </a:p>
        </p:txBody>
      </p:sp>
      <p:sp>
        <p:nvSpPr>
          <p:cNvPr id="3" name="Content Placeholder 2">
            <a:extLst>
              <a:ext uri="{FF2B5EF4-FFF2-40B4-BE49-F238E27FC236}">
                <a16:creationId xmlns:a16="http://schemas.microsoft.com/office/drawing/2014/main" id="{6E99B606-4AC1-4331-8454-1AC61A60A3CE}"/>
              </a:ext>
            </a:extLst>
          </p:cNvPr>
          <p:cNvSpPr>
            <a:spLocks noGrp="1"/>
          </p:cNvSpPr>
          <p:nvPr>
            <p:ph idx="1"/>
          </p:nvPr>
        </p:nvSpPr>
        <p:spPr>
          <a:xfrm>
            <a:off x="838200" y="1825625"/>
            <a:ext cx="3124200" cy="4351338"/>
          </a:xfrm>
        </p:spPr>
        <p:txBody>
          <a:bodyPr>
            <a:normAutofit/>
          </a:bodyPr>
          <a:lstStyle/>
          <a:p>
            <a:r>
              <a:rPr lang="en-US" sz="2400" dirty="0"/>
              <a:t>Website hosing server</a:t>
            </a:r>
          </a:p>
          <a:p>
            <a:r>
              <a:rPr lang="en-US" sz="2400" dirty="0"/>
              <a:t>Client use Browser on Computer, Mobile devices to open website</a:t>
            </a:r>
          </a:p>
          <a:p>
            <a:r>
              <a:rPr lang="en-US" sz="2400" dirty="0"/>
              <a:t>Internet for communication of website</a:t>
            </a:r>
            <a:endParaRPr lang="en-PK" sz="2400" dirty="0"/>
          </a:p>
        </p:txBody>
      </p:sp>
      <p:pic>
        <p:nvPicPr>
          <p:cNvPr id="2052" name="Picture 4" descr="What is World Wide Web">
            <a:extLst>
              <a:ext uri="{FF2B5EF4-FFF2-40B4-BE49-F238E27FC236}">
                <a16:creationId xmlns:a16="http://schemas.microsoft.com/office/drawing/2014/main" id="{801DEB89-5249-44CD-889F-A7FCBACE97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664" y="1825625"/>
            <a:ext cx="5981700" cy="35147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B21E63F-2588-48A5-9BE3-D073B641E747}"/>
              </a:ext>
            </a:extLst>
          </p:cNvPr>
          <p:cNvSpPr txBox="1"/>
          <p:nvPr/>
        </p:nvSpPr>
        <p:spPr>
          <a:xfrm>
            <a:off x="1407886" y="5762047"/>
            <a:ext cx="6096000" cy="369332"/>
          </a:xfrm>
          <a:prstGeom prst="rect">
            <a:avLst/>
          </a:prstGeom>
          <a:noFill/>
        </p:spPr>
        <p:txBody>
          <a:bodyPr wrap="square">
            <a:spAutoFit/>
          </a:bodyPr>
          <a:lstStyle/>
          <a:p>
            <a:r>
              <a:rPr lang="en-PK" dirty="0"/>
              <a:t>https://www.javatpoint.com/what-is-world-wide-web</a:t>
            </a:r>
          </a:p>
        </p:txBody>
      </p:sp>
    </p:spTree>
    <p:extLst>
      <p:ext uri="{BB962C8B-B14F-4D97-AF65-F5344CB8AC3E}">
        <p14:creationId xmlns:p14="http://schemas.microsoft.com/office/powerpoint/2010/main" val="887098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D578A3-BE6C-4415-95B4-B9815429F011}"/>
              </a:ext>
            </a:extLst>
          </p:cNvPr>
          <p:cNvPicPr>
            <a:picLocks noChangeAspect="1"/>
          </p:cNvPicPr>
          <p:nvPr/>
        </p:nvPicPr>
        <p:blipFill rotWithShape="1">
          <a:blip r:embed="rId2"/>
          <a:srcRect r="18289"/>
          <a:stretch/>
        </p:blipFill>
        <p:spPr>
          <a:xfrm>
            <a:off x="638629" y="886823"/>
            <a:ext cx="5573485" cy="48172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4" descr="What is World Wide Web">
            <a:extLst>
              <a:ext uri="{FF2B5EF4-FFF2-40B4-BE49-F238E27FC236}">
                <a16:creationId xmlns:a16="http://schemas.microsoft.com/office/drawing/2014/main" id="{9406C8A0-1255-476B-8C43-13F65B53B6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5257" y="1683657"/>
            <a:ext cx="4688113" cy="33691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FD1E4448-D28A-4984-8E63-9C55D9A52BD1}"/>
              </a:ext>
            </a:extLst>
          </p:cNvPr>
          <p:cNvSpPr txBox="1"/>
          <p:nvPr/>
        </p:nvSpPr>
        <p:spPr>
          <a:xfrm>
            <a:off x="2976880" y="6177280"/>
            <a:ext cx="872739" cy="369332"/>
          </a:xfrm>
          <a:prstGeom prst="rect">
            <a:avLst/>
          </a:prstGeom>
          <a:noFill/>
        </p:spPr>
        <p:txBody>
          <a:bodyPr wrap="none" rtlCol="0">
            <a:spAutoFit/>
          </a:bodyPr>
          <a:lstStyle/>
          <a:p>
            <a:r>
              <a:rPr lang="en-US" dirty="0" err="1"/>
              <a:t>Inernet</a:t>
            </a:r>
            <a:endParaRPr lang="en-PK" dirty="0"/>
          </a:p>
        </p:txBody>
      </p:sp>
      <p:sp>
        <p:nvSpPr>
          <p:cNvPr id="5" name="TextBox 4">
            <a:extLst>
              <a:ext uri="{FF2B5EF4-FFF2-40B4-BE49-F238E27FC236}">
                <a16:creationId xmlns:a16="http://schemas.microsoft.com/office/drawing/2014/main" id="{96CD736D-714B-4B5A-91A4-27C60792B9FA}"/>
              </a:ext>
            </a:extLst>
          </p:cNvPr>
          <p:cNvSpPr txBox="1"/>
          <p:nvPr/>
        </p:nvSpPr>
        <p:spPr>
          <a:xfrm>
            <a:off x="8270240" y="5781040"/>
            <a:ext cx="1791965" cy="369332"/>
          </a:xfrm>
          <a:prstGeom prst="rect">
            <a:avLst/>
          </a:prstGeom>
          <a:noFill/>
        </p:spPr>
        <p:txBody>
          <a:bodyPr wrap="none" rtlCol="0">
            <a:spAutoFit/>
          </a:bodyPr>
          <a:lstStyle/>
          <a:p>
            <a:r>
              <a:rPr lang="en-US" dirty="0"/>
              <a:t>World Wide Web</a:t>
            </a:r>
            <a:endParaRPr lang="en-PK" dirty="0"/>
          </a:p>
        </p:txBody>
      </p:sp>
    </p:spTree>
    <p:extLst>
      <p:ext uri="{BB962C8B-B14F-4D97-AF65-F5344CB8AC3E}">
        <p14:creationId xmlns:p14="http://schemas.microsoft.com/office/powerpoint/2010/main" val="1795303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C4D8-4851-4919-A119-65DF1F4C763B}"/>
              </a:ext>
            </a:extLst>
          </p:cNvPr>
          <p:cNvSpPr>
            <a:spLocks noGrp="1"/>
          </p:cNvSpPr>
          <p:nvPr>
            <p:ph type="title"/>
          </p:nvPr>
        </p:nvSpPr>
        <p:spPr/>
        <p:txBody>
          <a:bodyPr/>
          <a:lstStyle/>
          <a:p>
            <a:r>
              <a:rPr lang="en-US" dirty="0"/>
              <a:t>World Wide Web</a:t>
            </a:r>
            <a:endParaRPr lang="en-PK" dirty="0"/>
          </a:p>
        </p:txBody>
      </p:sp>
      <p:sp>
        <p:nvSpPr>
          <p:cNvPr id="3" name="Content Placeholder 2">
            <a:extLst>
              <a:ext uri="{FF2B5EF4-FFF2-40B4-BE49-F238E27FC236}">
                <a16:creationId xmlns:a16="http://schemas.microsoft.com/office/drawing/2014/main" id="{EE041F41-080A-482D-BEC9-98F823F84B97}"/>
              </a:ext>
            </a:extLst>
          </p:cNvPr>
          <p:cNvSpPr>
            <a:spLocks noGrp="1"/>
          </p:cNvSpPr>
          <p:nvPr>
            <p:ph idx="1"/>
          </p:nvPr>
        </p:nvSpPr>
        <p:spPr/>
        <p:txBody>
          <a:bodyPr/>
          <a:lstStyle/>
          <a:p>
            <a:r>
              <a:rPr lang="en-US" dirty="0"/>
              <a:t>The World Wide Web (WWW), commonly known as The Web, is an information system where documents and other web resources are identified by Uniform Resource Locators (URLs, such as https://example.com/), which may be interlinked by hyperlinks, and are accessible over the Internet.</a:t>
            </a:r>
          </a:p>
          <a:p>
            <a:r>
              <a:rPr lang="en-US" dirty="0"/>
              <a:t>The resources of the Web are transferred via the Hypertext Transfer Protocol (HTTP), may be accessed by users by a software application called a web browser, and are published by a software application called a web server. </a:t>
            </a:r>
            <a:endParaRPr lang="en-PK" dirty="0"/>
          </a:p>
        </p:txBody>
      </p:sp>
    </p:spTree>
    <p:extLst>
      <p:ext uri="{BB962C8B-B14F-4D97-AF65-F5344CB8AC3E}">
        <p14:creationId xmlns:p14="http://schemas.microsoft.com/office/powerpoint/2010/main" val="2356171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C4D8-4851-4919-A119-65DF1F4C763B}"/>
              </a:ext>
            </a:extLst>
          </p:cNvPr>
          <p:cNvSpPr>
            <a:spLocks noGrp="1"/>
          </p:cNvSpPr>
          <p:nvPr>
            <p:ph type="title"/>
          </p:nvPr>
        </p:nvSpPr>
        <p:spPr/>
        <p:txBody>
          <a:bodyPr/>
          <a:lstStyle/>
          <a:p>
            <a:r>
              <a:rPr lang="en-US" dirty="0"/>
              <a:t>World Wide Web</a:t>
            </a:r>
            <a:endParaRPr lang="en-PK" dirty="0"/>
          </a:p>
        </p:txBody>
      </p:sp>
      <p:sp>
        <p:nvSpPr>
          <p:cNvPr id="3" name="Content Placeholder 2">
            <a:extLst>
              <a:ext uri="{FF2B5EF4-FFF2-40B4-BE49-F238E27FC236}">
                <a16:creationId xmlns:a16="http://schemas.microsoft.com/office/drawing/2014/main" id="{EE041F41-080A-482D-BEC9-98F823F84B97}"/>
              </a:ext>
            </a:extLst>
          </p:cNvPr>
          <p:cNvSpPr>
            <a:spLocks noGrp="1"/>
          </p:cNvSpPr>
          <p:nvPr>
            <p:ph idx="1"/>
          </p:nvPr>
        </p:nvSpPr>
        <p:spPr/>
        <p:txBody>
          <a:bodyPr/>
          <a:lstStyle/>
          <a:p>
            <a:r>
              <a:rPr lang="en-US" b="0" i="0" dirty="0">
                <a:solidFill>
                  <a:srgbClr val="202122"/>
                </a:solidFill>
                <a:effectLst/>
                <a:latin typeface="Arial" panose="020B0604020202020204" pitchFamily="34" charset="0"/>
              </a:rPr>
              <a:t>English scientist </a:t>
            </a:r>
            <a:r>
              <a:rPr lang="en-US" b="0" i="0" u="none" strike="noStrike" dirty="0">
                <a:solidFill>
                  <a:srgbClr val="0645AD"/>
                </a:solidFill>
                <a:effectLst/>
                <a:latin typeface="Arial" panose="020B0604020202020204" pitchFamily="34" charset="0"/>
                <a:hlinkClick r:id="rId2" tooltip="Tim Berners-Lee"/>
              </a:rPr>
              <a:t>Sir Timothy Berners-Lee</a:t>
            </a:r>
            <a:r>
              <a:rPr lang="en-US" b="0" i="0" dirty="0">
                <a:solidFill>
                  <a:srgbClr val="202122"/>
                </a:solidFill>
                <a:effectLst/>
                <a:latin typeface="Arial" panose="020B0604020202020204" pitchFamily="34" charset="0"/>
              </a:rPr>
              <a:t> invented the World Wide Web in 1989.</a:t>
            </a:r>
          </a:p>
          <a:p>
            <a:r>
              <a:rPr lang="en-US" dirty="0"/>
              <a:t>He wrote the first web browser in 1990 while employed at European Organization for Nuclear Research (CERN) near Geneva, Switzerland.</a:t>
            </a:r>
          </a:p>
          <a:p>
            <a:r>
              <a:rPr lang="en-US" dirty="0"/>
              <a:t>] The browser was released outside CERN to other research institutions starting in January 1991.</a:t>
            </a:r>
          </a:p>
          <a:p>
            <a:r>
              <a:rPr lang="en-US" dirty="0"/>
              <a:t>The general public in August 1991. The Web began to enter everyday use in 1993-4.</a:t>
            </a:r>
          </a:p>
          <a:p>
            <a:endParaRPr lang="en-PK" dirty="0"/>
          </a:p>
        </p:txBody>
      </p:sp>
      <p:sp>
        <p:nvSpPr>
          <p:cNvPr id="4" name="TextBox 3">
            <a:extLst>
              <a:ext uri="{FF2B5EF4-FFF2-40B4-BE49-F238E27FC236}">
                <a16:creationId xmlns:a16="http://schemas.microsoft.com/office/drawing/2014/main" id="{70731B08-29A4-48B1-BCBE-CD04590B0BA5}"/>
              </a:ext>
            </a:extLst>
          </p:cNvPr>
          <p:cNvSpPr txBox="1"/>
          <p:nvPr/>
        </p:nvSpPr>
        <p:spPr>
          <a:xfrm>
            <a:off x="3468915" y="5021943"/>
            <a:ext cx="1543051" cy="369332"/>
          </a:xfrm>
          <a:prstGeom prst="rect">
            <a:avLst/>
          </a:prstGeom>
          <a:noFill/>
        </p:spPr>
        <p:txBody>
          <a:bodyPr wrap="none" rtlCol="0">
            <a:spAutoFit/>
          </a:bodyPr>
          <a:lstStyle/>
          <a:p>
            <a:r>
              <a:rPr lang="en-US" dirty="0"/>
              <a:t>Wikepedia.org</a:t>
            </a:r>
            <a:endParaRPr lang="en-PK" dirty="0"/>
          </a:p>
        </p:txBody>
      </p:sp>
      <p:sp>
        <p:nvSpPr>
          <p:cNvPr id="6" name="TextBox 5">
            <a:extLst>
              <a:ext uri="{FF2B5EF4-FFF2-40B4-BE49-F238E27FC236}">
                <a16:creationId xmlns:a16="http://schemas.microsoft.com/office/drawing/2014/main" id="{F6D17CF8-F1C8-4ECE-916C-76492A4541ED}"/>
              </a:ext>
            </a:extLst>
          </p:cNvPr>
          <p:cNvSpPr txBox="1"/>
          <p:nvPr/>
        </p:nvSpPr>
        <p:spPr>
          <a:xfrm>
            <a:off x="5254171" y="6209397"/>
            <a:ext cx="7097486" cy="369332"/>
          </a:xfrm>
          <a:prstGeom prst="rect">
            <a:avLst/>
          </a:prstGeom>
          <a:noFill/>
        </p:spPr>
        <p:txBody>
          <a:bodyPr wrap="square">
            <a:spAutoFit/>
          </a:bodyPr>
          <a:lstStyle/>
          <a:p>
            <a:r>
              <a:rPr lang="en-PK" dirty="0"/>
              <a:t>https://home.cern/science/computing/birth-web/short-history-web</a:t>
            </a:r>
          </a:p>
        </p:txBody>
      </p:sp>
    </p:spTree>
    <p:extLst>
      <p:ext uri="{BB962C8B-B14F-4D97-AF65-F5344CB8AC3E}">
        <p14:creationId xmlns:p14="http://schemas.microsoft.com/office/powerpoint/2010/main" val="611499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9F59-B089-427D-AB15-580B896F84ED}"/>
              </a:ext>
            </a:extLst>
          </p:cNvPr>
          <p:cNvSpPr>
            <a:spLocks noGrp="1"/>
          </p:cNvSpPr>
          <p:nvPr>
            <p:ph type="title"/>
          </p:nvPr>
        </p:nvSpPr>
        <p:spPr/>
        <p:txBody>
          <a:bodyPr/>
          <a:lstStyle/>
          <a:p>
            <a:r>
              <a:rPr lang="en-US" dirty="0"/>
              <a:t>Generation/Version of World Wide Web</a:t>
            </a:r>
            <a:endParaRPr lang="en-PK" dirty="0"/>
          </a:p>
        </p:txBody>
      </p:sp>
      <p:sp>
        <p:nvSpPr>
          <p:cNvPr id="3" name="Content Placeholder 2">
            <a:extLst>
              <a:ext uri="{FF2B5EF4-FFF2-40B4-BE49-F238E27FC236}">
                <a16:creationId xmlns:a16="http://schemas.microsoft.com/office/drawing/2014/main" id="{CCC4308F-7376-4C51-B6E1-9A36E999B56F}"/>
              </a:ext>
            </a:extLst>
          </p:cNvPr>
          <p:cNvSpPr>
            <a:spLocks noGrp="1"/>
          </p:cNvSpPr>
          <p:nvPr>
            <p:ph idx="1"/>
          </p:nvPr>
        </p:nvSpPr>
        <p:spPr/>
        <p:txBody>
          <a:bodyPr/>
          <a:lstStyle/>
          <a:p>
            <a:pPr marL="0" indent="0">
              <a:buNone/>
            </a:pPr>
            <a:r>
              <a:rPr lang="en-US" dirty="0"/>
              <a:t>Generation/ Version of Web are divided by its functionality. </a:t>
            </a:r>
          </a:p>
          <a:p>
            <a:r>
              <a:rPr lang="en-US" dirty="0"/>
              <a:t>Web 1.0 Statics Website</a:t>
            </a:r>
          </a:p>
          <a:p>
            <a:r>
              <a:rPr lang="en-US" dirty="0"/>
              <a:t>Web 2.0 Dynamic Web Pages and User Interaction</a:t>
            </a:r>
          </a:p>
          <a:p>
            <a:r>
              <a:rPr lang="en-US" dirty="0"/>
              <a:t>Web 3.0 Smart Applications, Live streaming, Smart user interaction </a:t>
            </a:r>
            <a:r>
              <a:rPr lang="en-US" dirty="0" err="1"/>
              <a:t>etc</a:t>
            </a:r>
            <a:endParaRPr lang="en-US" dirty="0"/>
          </a:p>
          <a:p>
            <a:pPr marL="0" indent="0">
              <a:buNone/>
            </a:pPr>
            <a:endParaRPr lang="en-US" dirty="0"/>
          </a:p>
          <a:p>
            <a:pPr marL="0" indent="0">
              <a:buNone/>
            </a:pPr>
            <a:r>
              <a:rPr lang="en-US" dirty="0"/>
              <a:t>Details on next slides</a:t>
            </a:r>
          </a:p>
          <a:p>
            <a:pPr marL="0" indent="0">
              <a:buNone/>
            </a:pPr>
            <a:endParaRPr lang="en-US" dirty="0"/>
          </a:p>
          <a:p>
            <a:pPr marL="0" indent="0">
              <a:buNone/>
            </a:pPr>
            <a:r>
              <a:rPr lang="en-US" dirty="0"/>
              <a:t>https://www.geeksforgeeks.org/web-1-0-web-2-0-and-web-3-0-with-their-difference/</a:t>
            </a:r>
            <a:endParaRPr lang="en-PK" dirty="0"/>
          </a:p>
        </p:txBody>
      </p:sp>
    </p:spTree>
    <p:extLst>
      <p:ext uri="{BB962C8B-B14F-4D97-AF65-F5344CB8AC3E}">
        <p14:creationId xmlns:p14="http://schemas.microsoft.com/office/powerpoint/2010/main" val="600000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9F59-B089-427D-AB15-580B896F84ED}"/>
              </a:ext>
            </a:extLst>
          </p:cNvPr>
          <p:cNvSpPr>
            <a:spLocks noGrp="1"/>
          </p:cNvSpPr>
          <p:nvPr>
            <p:ph type="title"/>
          </p:nvPr>
        </p:nvSpPr>
        <p:spPr/>
        <p:txBody>
          <a:bodyPr/>
          <a:lstStyle/>
          <a:p>
            <a:r>
              <a:rPr lang="en-US" dirty="0"/>
              <a:t>Web 1.0</a:t>
            </a:r>
            <a:endParaRPr lang="en-PK" dirty="0"/>
          </a:p>
        </p:txBody>
      </p:sp>
      <p:sp>
        <p:nvSpPr>
          <p:cNvPr id="3" name="Content Placeholder 2">
            <a:extLst>
              <a:ext uri="{FF2B5EF4-FFF2-40B4-BE49-F238E27FC236}">
                <a16:creationId xmlns:a16="http://schemas.microsoft.com/office/drawing/2014/main" id="{CCC4308F-7376-4C51-B6E1-9A36E999B56F}"/>
              </a:ext>
            </a:extLst>
          </p:cNvPr>
          <p:cNvSpPr>
            <a:spLocks noGrp="1"/>
          </p:cNvSpPr>
          <p:nvPr>
            <p:ph idx="1"/>
          </p:nvPr>
        </p:nvSpPr>
        <p:spPr/>
        <p:txBody>
          <a:bodyPr/>
          <a:lstStyle/>
          <a:p>
            <a:pPr>
              <a:buFont typeface="Courier New" panose="02070309020205020404" pitchFamily="49" charset="0"/>
              <a:buChar char="o"/>
            </a:pPr>
            <a:r>
              <a:rPr lang="en-US" b="0" i="0" dirty="0">
                <a:solidFill>
                  <a:srgbClr val="273239"/>
                </a:solidFill>
                <a:effectLst/>
                <a:latin typeface="urw-din"/>
              </a:rPr>
              <a:t>first stage of the </a:t>
            </a:r>
            <a:r>
              <a:rPr lang="en-US" dirty="0">
                <a:solidFill>
                  <a:srgbClr val="273239"/>
                </a:solidFill>
                <a:latin typeface="urw-din"/>
              </a:rPr>
              <a:t>World Wide Web evolution. Introduced in 1989.</a:t>
            </a:r>
          </a:p>
          <a:p>
            <a:pPr>
              <a:buFont typeface="Courier New" panose="02070309020205020404" pitchFamily="49" charset="0"/>
              <a:buChar char="o"/>
            </a:pPr>
            <a:r>
              <a:rPr lang="en-US" dirty="0"/>
              <a:t>Earlier, there were only few content creators in Web 1.0 with the huge majority of users who are consumers of content.</a:t>
            </a:r>
          </a:p>
          <a:p>
            <a:pPr>
              <a:buFont typeface="Courier New" panose="02070309020205020404" pitchFamily="49" charset="0"/>
              <a:buChar char="o"/>
            </a:pPr>
            <a:r>
              <a:rPr lang="en-US" dirty="0"/>
              <a:t>Personal web pages were common, consisting mainly of static pages hosted on ISP-run web servers</a:t>
            </a:r>
          </a:p>
          <a:p>
            <a:pPr>
              <a:buFont typeface="Courier New" panose="02070309020205020404" pitchFamily="49" charset="0"/>
              <a:buChar char="o"/>
            </a:pPr>
            <a:r>
              <a:rPr lang="en-US" dirty="0"/>
              <a:t>In Web 1.0 advertisements on websites while surfing the internet is banned</a:t>
            </a:r>
          </a:p>
          <a:p>
            <a:pPr>
              <a:buFont typeface="Courier New" panose="02070309020205020404" pitchFamily="49" charset="0"/>
              <a:buChar char="o"/>
            </a:pPr>
            <a:r>
              <a:rPr lang="en-US" b="0" i="0" dirty="0">
                <a:solidFill>
                  <a:srgbClr val="273239"/>
                </a:solidFill>
                <a:effectLst/>
                <a:latin typeface="urw-din"/>
              </a:rPr>
              <a:t>Web 1.0 is a content delivery network (CDN) which enables to showcase the piece of information on the websites.</a:t>
            </a:r>
          </a:p>
          <a:p>
            <a:pPr>
              <a:buFont typeface="Courier New" panose="02070309020205020404" pitchFamily="49" charset="0"/>
              <a:buChar char="o"/>
            </a:pPr>
            <a:endParaRPr lang="en-US" dirty="0"/>
          </a:p>
          <a:p>
            <a:pPr>
              <a:buFont typeface="Courier New" panose="02070309020205020404" pitchFamily="49" charset="0"/>
              <a:buChar char="o"/>
            </a:pPr>
            <a:endParaRPr lang="en-US" dirty="0"/>
          </a:p>
          <a:p>
            <a:pPr>
              <a:buFont typeface="Courier New" panose="02070309020205020404" pitchFamily="49" charset="0"/>
              <a:buChar char="o"/>
            </a:pPr>
            <a:endParaRPr lang="en-US" dirty="0"/>
          </a:p>
          <a:p>
            <a:endParaRPr lang="en-PK" dirty="0"/>
          </a:p>
        </p:txBody>
      </p:sp>
    </p:spTree>
    <p:extLst>
      <p:ext uri="{BB962C8B-B14F-4D97-AF65-F5344CB8AC3E}">
        <p14:creationId xmlns:p14="http://schemas.microsoft.com/office/powerpoint/2010/main" val="2856162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9F59-B089-427D-AB15-580B896F84ED}"/>
              </a:ext>
            </a:extLst>
          </p:cNvPr>
          <p:cNvSpPr>
            <a:spLocks noGrp="1"/>
          </p:cNvSpPr>
          <p:nvPr>
            <p:ph type="title"/>
          </p:nvPr>
        </p:nvSpPr>
        <p:spPr/>
        <p:txBody>
          <a:bodyPr/>
          <a:lstStyle/>
          <a:p>
            <a:r>
              <a:rPr lang="en-US" dirty="0"/>
              <a:t>Web 1.0</a:t>
            </a:r>
            <a:endParaRPr lang="en-PK" dirty="0"/>
          </a:p>
        </p:txBody>
      </p:sp>
      <p:sp>
        <p:nvSpPr>
          <p:cNvPr id="3" name="Content Placeholder 2">
            <a:extLst>
              <a:ext uri="{FF2B5EF4-FFF2-40B4-BE49-F238E27FC236}">
                <a16:creationId xmlns:a16="http://schemas.microsoft.com/office/drawing/2014/main" id="{CCC4308F-7376-4C51-B6E1-9A36E999B56F}"/>
              </a:ext>
            </a:extLst>
          </p:cNvPr>
          <p:cNvSpPr>
            <a:spLocks noGrp="1"/>
          </p:cNvSpPr>
          <p:nvPr>
            <p:ph idx="1"/>
          </p:nvPr>
        </p:nvSpPr>
        <p:spPr/>
        <p:txBody>
          <a:bodyPr/>
          <a:lstStyle/>
          <a:p>
            <a:pPr marL="0" indent="0">
              <a:buNone/>
            </a:pPr>
            <a:r>
              <a:rPr lang="en-US" b="1" dirty="0"/>
              <a:t>Four design essentials of a Web 1.0 site include:</a:t>
            </a:r>
          </a:p>
          <a:p>
            <a:pPr>
              <a:buFont typeface="Wingdings" panose="05000000000000000000" pitchFamily="2" charset="2"/>
              <a:buChar char="ü"/>
            </a:pPr>
            <a:r>
              <a:rPr lang="en-US" dirty="0"/>
              <a:t>Static pages.</a:t>
            </a:r>
          </a:p>
          <a:p>
            <a:pPr>
              <a:buFont typeface="Wingdings" panose="05000000000000000000" pitchFamily="2" charset="2"/>
              <a:buChar char="ü"/>
            </a:pPr>
            <a:r>
              <a:rPr lang="en-US" dirty="0"/>
              <a:t>Content is served from the server’s file-system.</a:t>
            </a:r>
          </a:p>
          <a:p>
            <a:pPr>
              <a:buFont typeface="Wingdings" panose="05000000000000000000" pitchFamily="2" charset="2"/>
              <a:buChar char="ü"/>
            </a:pPr>
            <a:r>
              <a:rPr lang="en-US" dirty="0"/>
              <a:t>Pages built using Server Side Includes or Common Gateway Interface (CGI).</a:t>
            </a:r>
          </a:p>
          <a:p>
            <a:pPr>
              <a:buFont typeface="Wingdings" panose="05000000000000000000" pitchFamily="2" charset="2"/>
              <a:buChar char="ü"/>
            </a:pPr>
            <a:r>
              <a:rPr lang="en-US" dirty="0"/>
              <a:t>Frames and Tables used to position and align the elements on a page.</a:t>
            </a:r>
          </a:p>
          <a:p>
            <a:pPr>
              <a:buFont typeface="Courier New" panose="02070309020205020404" pitchFamily="49" charset="0"/>
              <a:buChar char="o"/>
            </a:pPr>
            <a:endParaRPr lang="en-US" dirty="0"/>
          </a:p>
          <a:p>
            <a:pPr>
              <a:buFont typeface="Courier New" panose="02070309020205020404" pitchFamily="49" charset="0"/>
              <a:buChar char="o"/>
            </a:pPr>
            <a:endParaRPr lang="en-US" dirty="0"/>
          </a:p>
          <a:p>
            <a:endParaRPr lang="en-PK" dirty="0"/>
          </a:p>
        </p:txBody>
      </p:sp>
    </p:spTree>
    <p:extLst>
      <p:ext uri="{BB962C8B-B14F-4D97-AF65-F5344CB8AC3E}">
        <p14:creationId xmlns:p14="http://schemas.microsoft.com/office/powerpoint/2010/main" val="4114297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9F59-B089-427D-AB15-580B896F84ED}"/>
              </a:ext>
            </a:extLst>
          </p:cNvPr>
          <p:cNvSpPr>
            <a:spLocks noGrp="1"/>
          </p:cNvSpPr>
          <p:nvPr>
            <p:ph type="title"/>
          </p:nvPr>
        </p:nvSpPr>
        <p:spPr/>
        <p:txBody>
          <a:bodyPr/>
          <a:lstStyle/>
          <a:p>
            <a:r>
              <a:rPr lang="en-US" dirty="0"/>
              <a:t>Web 2.0</a:t>
            </a:r>
            <a:endParaRPr lang="en-PK" dirty="0"/>
          </a:p>
        </p:txBody>
      </p:sp>
      <p:sp>
        <p:nvSpPr>
          <p:cNvPr id="3" name="Content Placeholder 2">
            <a:extLst>
              <a:ext uri="{FF2B5EF4-FFF2-40B4-BE49-F238E27FC236}">
                <a16:creationId xmlns:a16="http://schemas.microsoft.com/office/drawing/2014/main" id="{CCC4308F-7376-4C51-B6E1-9A36E999B56F}"/>
              </a:ext>
            </a:extLst>
          </p:cNvPr>
          <p:cNvSpPr>
            <a:spLocks noGrp="1"/>
          </p:cNvSpPr>
          <p:nvPr>
            <p:ph idx="1"/>
          </p:nvPr>
        </p:nvSpPr>
        <p:spPr/>
        <p:txBody>
          <a:bodyPr>
            <a:normAutofit fontScale="92500" lnSpcReduction="20000"/>
          </a:bodyPr>
          <a:lstStyle/>
          <a:p>
            <a:pPr>
              <a:buFont typeface="Courier New" panose="02070309020205020404" pitchFamily="49" charset="0"/>
              <a:buChar char="o"/>
            </a:pPr>
            <a:r>
              <a:rPr lang="en-US" dirty="0"/>
              <a:t>Web 2.0 is the second generation of web. It was defined by Dale Dougherty in 2004 as a read-write web. (Choudhury, 2014)</a:t>
            </a:r>
          </a:p>
          <a:p>
            <a:pPr>
              <a:buFont typeface="Courier New" panose="02070309020205020404" pitchFamily="49" charset="0"/>
              <a:buChar char="o"/>
            </a:pPr>
            <a:r>
              <a:rPr lang="en-US" dirty="0"/>
              <a:t>Web 2.0 is enhanced version of Web 1.0.</a:t>
            </a:r>
          </a:p>
          <a:p>
            <a:pPr>
              <a:buFont typeface="Courier New" panose="02070309020205020404" pitchFamily="49" charset="0"/>
              <a:buChar char="o"/>
            </a:pPr>
            <a:r>
              <a:rPr lang="en-US" dirty="0"/>
              <a:t>Refers to world wide website which highlight user-generated content, usability and interoperability for end users</a:t>
            </a:r>
          </a:p>
          <a:p>
            <a:pPr>
              <a:buFont typeface="Courier New" panose="02070309020205020404" pitchFamily="49" charset="0"/>
              <a:buChar char="o"/>
            </a:pPr>
            <a:r>
              <a:rPr lang="en-US" dirty="0"/>
              <a:t>Web 2.0 is also called participative social web.</a:t>
            </a:r>
          </a:p>
          <a:p>
            <a:pPr>
              <a:buFont typeface="Courier New" panose="02070309020205020404" pitchFamily="49" charset="0"/>
              <a:buChar char="o"/>
            </a:pPr>
            <a:r>
              <a:rPr lang="en-US" dirty="0"/>
              <a:t> It does not refer to a modification to any technical specification</a:t>
            </a:r>
          </a:p>
          <a:p>
            <a:pPr>
              <a:buFont typeface="Courier New" panose="02070309020205020404" pitchFamily="49" charset="0"/>
              <a:buChar char="o"/>
            </a:pPr>
            <a:r>
              <a:rPr lang="en-US" dirty="0"/>
              <a:t>but to modify in the way Web pages are designed and used.</a:t>
            </a:r>
          </a:p>
          <a:p>
            <a:pPr>
              <a:buFont typeface="Courier New" panose="02070309020205020404" pitchFamily="49" charset="0"/>
              <a:buChar char="o"/>
            </a:pPr>
            <a:r>
              <a:rPr lang="en-US" dirty="0"/>
              <a:t>An interaction and collaboration with each other is allowed by Web 2.0 in a social media dialogue as creator of user-generated content in a virtual community.</a:t>
            </a:r>
          </a:p>
          <a:p>
            <a:pPr>
              <a:buFont typeface="Courier New" panose="02070309020205020404" pitchFamily="49" charset="0"/>
              <a:buChar char="o"/>
            </a:pPr>
            <a:r>
              <a:rPr lang="en-US" dirty="0"/>
              <a:t>The web browser technologies are used in Web 2.0 development and it includes AJAX and JavaScript frameworks. </a:t>
            </a:r>
            <a:endParaRPr lang="en-PK" dirty="0"/>
          </a:p>
        </p:txBody>
      </p:sp>
    </p:spTree>
    <p:extLst>
      <p:ext uri="{BB962C8B-B14F-4D97-AF65-F5344CB8AC3E}">
        <p14:creationId xmlns:p14="http://schemas.microsoft.com/office/powerpoint/2010/main" val="3759076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9F59-B089-427D-AB15-580B896F84ED}"/>
              </a:ext>
            </a:extLst>
          </p:cNvPr>
          <p:cNvSpPr>
            <a:spLocks noGrp="1"/>
          </p:cNvSpPr>
          <p:nvPr>
            <p:ph type="title"/>
          </p:nvPr>
        </p:nvSpPr>
        <p:spPr/>
        <p:txBody>
          <a:bodyPr/>
          <a:lstStyle/>
          <a:p>
            <a:r>
              <a:rPr lang="en-US" dirty="0"/>
              <a:t>Web 2.0</a:t>
            </a:r>
            <a:endParaRPr lang="en-PK" dirty="0"/>
          </a:p>
        </p:txBody>
      </p:sp>
      <p:sp>
        <p:nvSpPr>
          <p:cNvPr id="3" name="Content Placeholder 2">
            <a:extLst>
              <a:ext uri="{FF2B5EF4-FFF2-40B4-BE49-F238E27FC236}">
                <a16:creationId xmlns:a16="http://schemas.microsoft.com/office/drawing/2014/main" id="{CCC4308F-7376-4C51-B6E1-9A36E999B56F}"/>
              </a:ext>
            </a:extLst>
          </p:cNvPr>
          <p:cNvSpPr>
            <a:spLocks noGrp="1"/>
          </p:cNvSpPr>
          <p:nvPr>
            <p:ph idx="1"/>
          </p:nvPr>
        </p:nvSpPr>
        <p:spPr/>
        <p:txBody>
          <a:bodyPr/>
          <a:lstStyle/>
          <a:p>
            <a:pPr>
              <a:buFont typeface="Courier New" panose="02070309020205020404" pitchFamily="49" charset="0"/>
              <a:buChar char="o"/>
            </a:pPr>
            <a:r>
              <a:rPr lang="en-US" dirty="0"/>
              <a:t>Recently, AJAX and JavaScript frameworks have become a very popular means of creating web 2.0 sites.</a:t>
            </a:r>
          </a:p>
          <a:p>
            <a:r>
              <a:rPr lang="en-US" b="1" dirty="0"/>
              <a:t>Five major features of Web 2.0 –</a:t>
            </a:r>
          </a:p>
          <a:p>
            <a:pPr>
              <a:buFont typeface="Courier New" panose="02070309020205020404" pitchFamily="49" charset="0"/>
              <a:buChar char="o"/>
            </a:pPr>
            <a:r>
              <a:rPr lang="en-US" dirty="0"/>
              <a:t>Free sorting of information, permits users to retrieve and classify the information collectively.</a:t>
            </a:r>
          </a:p>
          <a:p>
            <a:pPr>
              <a:buFont typeface="Courier New" panose="02070309020205020404" pitchFamily="49" charset="0"/>
              <a:buChar char="o"/>
            </a:pPr>
            <a:r>
              <a:rPr lang="en-US" dirty="0"/>
              <a:t>Dynamic content that is responsive to user input.</a:t>
            </a:r>
          </a:p>
          <a:p>
            <a:pPr>
              <a:buFont typeface="Courier New" panose="02070309020205020404" pitchFamily="49" charset="0"/>
              <a:buChar char="o"/>
            </a:pPr>
            <a:r>
              <a:rPr lang="en-US" dirty="0"/>
              <a:t>Information flows between site owner and site users by means of evaluation &amp; online commenting.</a:t>
            </a:r>
          </a:p>
          <a:p>
            <a:pPr>
              <a:buFont typeface="Courier New" panose="02070309020205020404" pitchFamily="49" charset="0"/>
              <a:buChar char="o"/>
            </a:pPr>
            <a:r>
              <a:rPr lang="en-US" dirty="0"/>
              <a:t>Developed APIs to allow self-usage, such as by a software application.</a:t>
            </a:r>
          </a:p>
          <a:p>
            <a:pPr>
              <a:buFont typeface="Courier New" panose="02070309020205020404" pitchFamily="49" charset="0"/>
              <a:buChar char="o"/>
            </a:pPr>
            <a:r>
              <a:rPr lang="en-US" dirty="0"/>
              <a:t>Web access leads to concern different, from the traditional Internet user base to a wider variety of users.</a:t>
            </a:r>
            <a:endParaRPr lang="en-PK" dirty="0"/>
          </a:p>
        </p:txBody>
      </p:sp>
    </p:spTree>
    <p:extLst>
      <p:ext uri="{BB962C8B-B14F-4D97-AF65-F5344CB8AC3E}">
        <p14:creationId xmlns:p14="http://schemas.microsoft.com/office/powerpoint/2010/main" val="839860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9F59-B089-427D-AB15-580B896F84ED}"/>
              </a:ext>
            </a:extLst>
          </p:cNvPr>
          <p:cNvSpPr>
            <a:spLocks noGrp="1"/>
          </p:cNvSpPr>
          <p:nvPr>
            <p:ph type="title"/>
          </p:nvPr>
        </p:nvSpPr>
        <p:spPr/>
        <p:txBody>
          <a:bodyPr/>
          <a:lstStyle/>
          <a:p>
            <a:r>
              <a:rPr lang="en-US" dirty="0"/>
              <a:t>Web 2.0</a:t>
            </a:r>
            <a:endParaRPr lang="en-PK" dirty="0"/>
          </a:p>
        </p:txBody>
      </p:sp>
      <p:sp>
        <p:nvSpPr>
          <p:cNvPr id="3" name="Content Placeholder 2">
            <a:extLst>
              <a:ext uri="{FF2B5EF4-FFF2-40B4-BE49-F238E27FC236}">
                <a16:creationId xmlns:a16="http://schemas.microsoft.com/office/drawing/2014/main" id="{CCC4308F-7376-4C51-B6E1-9A36E999B56F}"/>
              </a:ext>
            </a:extLst>
          </p:cNvPr>
          <p:cNvSpPr>
            <a:spLocks noGrp="1"/>
          </p:cNvSpPr>
          <p:nvPr>
            <p:ph idx="1"/>
          </p:nvPr>
        </p:nvSpPr>
        <p:spPr/>
        <p:txBody>
          <a:bodyPr>
            <a:normAutofit fontScale="85000" lnSpcReduction="10000"/>
          </a:bodyPr>
          <a:lstStyle/>
          <a:p>
            <a:pPr>
              <a:buFont typeface="Courier New" panose="02070309020205020404" pitchFamily="49" charset="0"/>
              <a:buChar char="o"/>
            </a:pPr>
            <a:r>
              <a:rPr lang="en-US" b="1" dirty="0"/>
              <a:t>Usage of Web 2.0</a:t>
            </a:r>
          </a:p>
          <a:p>
            <a:pPr marL="0" indent="0">
              <a:buNone/>
            </a:pPr>
            <a:r>
              <a:rPr lang="en-US" dirty="0"/>
              <a:t>The social Web contains a number of online tools and platforms where people share their perspectives, opinions, thoughts and experiences. Web 2.0 applications tend to interact much more with the end user.</a:t>
            </a:r>
          </a:p>
          <a:p>
            <a:pPr>
              <a:buFont typeface="Courier New" panose="02070309020205020404" pitchFamily="49" charset="0"/>
              <a:buChar char="o"/>
            </a:pPr>
            <a:r>
              <a:rPr lang="en-US" dirty="0"/>
              <a:t>Podcasting</a:t>
            </a:r>
          </a:p>
          <a:p>
            <a:pPr>
              <a:buFont typeface="Courier New" panose="02070309020205020404" pitchFamily="49" charset="0"/>
              <a:buChar char="o"/>
            </a:pPr>
            <a:r>
              <a:rPr lang="en-US" dirty="0"/>
              <a:t>Blogging</a:t>
            </a:r>
          </a:p>
          <a:p>
            <a:pPr>
              <a:buFont typeface="Courier New" panose="02070309020205020404" pitchFamily="49" charset="0"/>
              <a:buChar char="o"/>
            </a:pPr>
            <a:r>
              <a:rPr lang="en-US" dirty="0"/>
              <a:t>Tagging</a:t>
            </a:r>
          </a:p>
          <a:p>
            <a:pPr>
              <a:buFont typeface="Courier New" panose="02070309020205020404" pitchFamily="49" charset="0"/>
              <a:buChar char="o"/>
            </a:pPr>
            <a:r>
              <a:rPr lang="en-US" dirty="0"/>
              <a:t>Curating with RSS</a:t>
            </a:r>
          </a:p>
          <a:p>
            <a:pPr>
              <a:buFont typeface="Courier New" panose="02070309020205020404" pitchFamily="49" charset="0"/>
              <a:buChar char="o"/>
            </a:pPr>
            <a:r>
              <a:rPr lang="en-US" dirty="0"/>
              <a:t>Social bookmarking</a:t>
            </a:r>
          </a:p>
          <a:p>
            <a:pPr>
              <a:buFont typeface="Courier New" panose="02070309020205020404" pitchFamily="49" charset="0"/>
              <a:buChar char="o"/>
            </a:pPr>
            <a:r>
              <a:rPr lang="en-US" dirty="0"/>
              <a:t>Social networking</a:t>
            </a:r>
          </a:p>
          <a:p>
            <a:pPr>
              <a:buFont typeface="Courier New" panose="02070309020205020404" pitchFamily="49" charset="0"/>
              <a:buChar char="o"/>
            </a:pPr>
            <a:r>
              <a:rPr lang="en-US" dirty="0"/>
              <a:t>Social media</a:t>
            </a:r>
          </a:p>
          <a:p>
            <a:pPr>
              <a:buFont typeface="Courier New" panose="02070309020205020404" pitchFamily="49" charset="0"/>
              <a:buChar char="o"/>
            </a:pPr>
            <a:r>
              <a:rPr lang="en-US" dirty="0"/>
              <a:t>Web content voting</a:t>
            </a:r>
            <a:endParaRPr lang="en-PK" dirty="0"/>
          </a:p>
        </p:txBody>
      </p:sp>
      <p:sp>
        <p:nvSpPr>
          <p:cNvPr id="5" name="TextBox 4">
            <a:extLst>
              <a:ext uri="{FF2B5EF4-FFF2-40B4-BE49-F238E27FC236}">
                <a16:creationId xmlns:a16="http://schemas.microsoft.com/office/drawing/2014/main" id="{12D12EC0-B99B-42A7-AE7D-B6917FC4119E}"/>
              </a:ext>
            </a:extLst>
          </p:cNvPr>
          <p:cNvSpPr txBox="1"/>
          <p:nvPr/>
        </p:nvSpPr>
        <p:spPr>
          <a:xfrm>
            <a:off x="6545943" y="5917959"/>
            <a:ext cx="5370287" cy="369332"/>
          </a:xfrm>
          <a:prstGeom prst="rect">
            <a:avLst/>
          </a:prstGeom>
          <a:noFill/>
        </p:spPr>
        <p:txBody>
          <a:bodyPr wrap="square">
            <a:spAutoFit/>
          </a:bodyPr>
          <a:lstStyle/>
          <a:p>
            <a:r>
              <a:rPr lang="en-US" dirty="0"/>
              <a:t>Helpful link: </a:t>
            </a:r>
            <a:r>
              <a:rPr lang="en-PK" dirty="0"/>
              <a:t>https://en.wikipedia.org/wiki/Web_2.0</a:t>
            </a:r>
          </a:p>
        </p:txBody>
      </p:sp>
    </p:spTree>
    <p:extLst>
      <p:ext uri="{BB962C8B-B14F-4D97-AF65-F5344CB8AC3E}">
        <p14:creationId xmlns:p14="http://schemas.microsoft.com/office/powerpoint/2010/main" val="1345921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9F59-B089-427D-AB15-580B896F84ED}"/>
              </a:ext>
            </a:extLst>
          </p:cNvPr>
          <p:cNvSpPr>
            <a:spLocks noGrp="1"/>
          </p:cNvSpPr>
          <p:nvPr>
            <p:ph type="title"/>
          </p:nvPr>
        </p:nvSpPr>
        <p:spPr/>
        <p:txBody>
          <a:bodyPr/>
          <a:lstStyle/>
          <a:p>
            <a:r>
              <a:rPr lang="en-US" dirty="0"/>
              <a:t>Web 3.0</a:t>
            </a:r>
            <a:endParaRPr lang="en-PK" dirty="0"/>
          </a:p>
        </p:txBody>
      </p:sp>
      <p:sp>
        <p:nvSpPr>
          <p:cNvPr id="3" name="Content Placeholder 2">
            <a:extLst>
              <a:ext uri="{FF2B5EF4-FFF2-40B4-BE49-F238E27FC236}">
                <a16:creationId xmlns:a16="http://schemas.microsoft.com/office/drawing/2014/main" id="{CCC4308F-7376-4C51-B6E1-9A36E999B56F}"/>
              </a:ext>
            </a:extLst>
          </p:cNvPr>
          <p:cNvSpPr>
            <a:spLocks noGrp="1"/>
          </p:cNvSpPr>
          <p:nvPr>
            <p:ph idx="1"/>
          </p:nvPr>
        </p:nvSpPr>
        <p:spPr/>
        <p:txBody>
          <a:bodyPr>
            <a:normAutofit/>
          </a:bodyPr>
          <a:lstStyle/>
          <a:p>
            <a:pPr>
              <a:buFont typeface="Courier New" panose="02070309020205020404" pitchFamily="49" charset="0"/>
              <a:buChar char="o"/>
            </a:pPr>
            <a:r>
              <a:rPr lang="en-US" dirty="0"/>
              <a:t>y John Markoff of the New York Times and he suggested web 3.0 as third generation of the web in </a:t>
            </a:r>
            <a:r>
              <a:rPr lang="en-US" b="1" dirty="0"/>
              <a:t>2006. </a:t>
            </a:r>
            <a:r>
              <a:rPr lang="en-US" dirty="0"/>
              <a:t>Web 3.0 can be also stated as “executable Web”</a:t>
            </a:r>
            <a:endParaRPr lang="en-US" b="1" i="0" dirty="0">
              <a:solidFill>
                <a:srgbClr val="273239"/>
              </a:solidFill>
              <a:effectLst/>
              <a:latin typeface="urw-din"/>
            </a:endParaRPr>
          </a:p>
          <a:p>
            <a:pPr>
              <a:buFont typeface="Courier New" panose="02070309020205020404" pitchFamily="49" charset="0"/>
              <a:buChar char="o"/>
            </a:pPr>
            <a:r>
              <a:rPr lang="en-US" b="0" i="0" dirty="0">
                <a:solidFill>
                  <a:srgbClr val="273239"/>
                </a:solidFill>
                <a:effectLst/>
                <a:latin typeface="urw-din"/>
              </a:rPr>
              <a:t>It refers the evolution of web utilization and interaction which includes altering the Web into a database. In enables the upgradation of back-end of the web, after a long time of focus on the front-end</a:t>
            </a:r>
          </a:p>
          <a:p>
            <a:pPr>
              <a:buFont typeface="Courier New" panose="02070309020205020404" pitchFamily="49" charset="0"/>
              <a:buChar char="o"/>
            </a:pPr>
            <a:r>
              <a:rPr lang="en-US" dirty="0"/>
              <a:t>Web 3.0 is a term which is used to describe many evolutions of web usage and interaction among several paths.</a:t>
            </a:r>
          </a:p>
          <a:p>
            <a:pPr>
              <a:buFont typeface="Courier New" panose="02070309020205020404" pitchFamily="49" charset="0"/>
              <a:buChar char="o"/>
            </a:pPr>
            <a:r>
              <a:rPr lang="en-US" dirty="0"/>
              <a:t>The </a:t>
            </a:r>
            <a:r>
              <a:rPr lang="en-US" b="1" dirty="0"/>
              <a:t>Semantic Web </a:t>
            </a:r>
            <a:r>
              <a:rPr lang="en-US" dirty="0"/>
              <a:t>s an extension of the World Wide Web through standards set by the World Wide Web Consortium (W3C). </a:t>
            </a:r>
            <a:r>
              <a:rPr lang="en-US" u="sng" dirty="0"/>
              <a:t>The goal of the Semantic Web is to make Internet data machine-readable.</a:t>
            </a:r>
            <a:endParaRPr lang="en-PK" u="sng" dirty="0"/>
          </a:p>
          <a:p>
            <a:pPr>
              <a:buFont typeface="Courier New" panose="02070309020205020404" pitchFamily="49" charset="0"/>
              <a:buChar char="o"/>
            </a:pPr>
            <a:r>
              <a:rPr lang="en-US" dirty="0"/>
              <a:t> </a:t>
            </a:r>
            <a:endParaRPr lang="en-US" dirty="0">
              <a:solidFill>
                <a:srgbClr val="273239"/>
              </a:solidFill>
              <a:latin typeface="urw-din"/>
            </a:endParaRPr>
          </a:p>
          <a:p>
            <a:pPr>
              <a:buFont typeface="Courier New" panose="02070309020205020404" pitchFamily="49" charset="0"/>
              <a:buChar char="o"/>
            </a:pPr>
            <a:endParaRPr lang="en-PK" dirty="0"/>
          </a:p>
        </p:txBody>
      </p:sp>
      <p:sp>
        <p:nvSpPr>
          <p:cNvPr id="4" name="TextBox 3">
            <a:extLst>
              <a:ext uri="{FF2B5EF4-FFF2-40B4-BE49-F238E27FC236}">
                <a16:creationId xmlns:a16="http://schemas.microsoft.com/office/drawing/2014/main" id="{CFC12717-4155-4930-9C91-859267D62449}"/>
              </a:ext>
            </a:extLst>
          </p:cNvPr>
          <p:cNvSpPr txBox="1"/>
          <p:nvPr/>
        </p:nvSpPr>
        <p:spPr>
          <a:xfrm>
            <a:off x="1770743" y="5977468"/>
            <a:ext cx="6096000" cy="369332"/>
          </a:xfrm>
          <a:prstGeom prst="rect">
            <a:avLst/>
          </a:prstGeom>
          <a:noFill/>
        </p:spPr>
        <p:txBody>
          <a:bodyPr wrap="square">
            <a:spAutoFit/>
          </a:bodyPr>
          <a:lstStyle/>
          <a:p>
            <a:r>
              <a:rPr lang="en-PK" dirty="0"/>
              <a:t>https://en.wikipedia.org/wiki/Semantic_Web#Web_3.0</a:t>
            </a:r>
          </a:p>
        </p:txBody>
      </p:sp>
    </p:spTree>
    <p:extLst>
      <p:ext uri="{BB962C8B-B14F-4D97-AF65-F5344CB8AC3E}">
        <p14:creationId xmlns:p14="http://schemas.microsoft.com/office/powerpoint/2010/main" val="916201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B9F59-B089-427D-AB15-580B896F84ED}"/>
              </a:ext>
            </a:extLst>
          </p:cNvPr>
          <p:cNvSpPr>
            <a:spLocks noGrp="1"/>
          </p:cNvSpPr>
          <p:nvPr>
            <p:ph type="title"/>
          </p:nvPr>
        </p:nvSpPr>
        <p:spPr/>
        <p:txBody>
          <a:bodyPr/>
          <a:lstStyle/>
          <a:p>
            <a:r>
              <a:rPr lang="en-US" dirty="0"/>
              <a:t>Difference between Web 1.0, Web 2.0 and Web 3.0</a:t>
            </a:r>
            <a:endParaRPr lang="en-PK" dirty="0"/>
          </a:p>
        </p:txBody>
      </p:sp>
      <p:sp>
        <p:nvSpPr>
          <p:cNvPr id="3" name="Content Placeholder 2">
            <a:extLst>
              <a:ext uri="{FF2B5EF4-FFF2-40B4-BE49-F238E27FC236}">
                <a16:creationId xmlns:a16="http://schemas.microsoft.com/office/drawing/2014/main" id="{CCC4308F-7376-4C51-B6E1-9A36E999B56F}"/>
              </a:ext>
            </a:extLst>
          </p:cNvPr>
          <p:cNvSpPr>
            <a:spLocks noGrp="1"/>
          </p:cNvSpPr>
          <p:nvPr>
            <p:ph idx="1"/>
          </p:nvPr>
        </p:nvSpPr>
        <p:spPr/>
        <p:txBody>
          <a:bodyPr>
            <a:normAutofit/>
          </a:bodyPr>
          <a:lstStyle/>
          <a:p>
            <a:pPr>
              <a:buFont typeface="Courier New" panose="02070309020205020404" pitchFamily="49" charset="0"/>
              <a:buChar char="o"/>
            </a:pPr>
            <a:endParaRPr lang="en-PK" dirty="0"/>
          </a:p>
        </p:txBody>
      </p:sp>
      <p:sp>
        <p:nvSpPr>
          <p:cNvPr id="5" name="TextBox 4">
            <a:extLst>
              <a:ext uri="{FF2B5EF4-FFF2-40B4-BE49-F238E27FC236}">
                <a16:creationId xmlns:a16="http://schemas.microsoft.com/office/drawing/2014/main" id="{9601CD3F-560A-404F-8201-F74BFBB9D02B}"/>
              </a:ext>
            </a:extLst>
          </p:cNvPr>
          <p:cNvSpPr txBox="1"/>
          <p:nvPr/>
        </p:nvSpPr>
        <p:spPr>
          <a:xfrm>
            <a:off x="1770743" y="5977468"/>
            <a:ext cx="6096000" cy="369332"/>
          </a:xfrm>
          <a:prstGeom prst="rect">
            <a:avLst/>
          </a:prstGeom>
          <a:noFill/>
        </p:spPr>
        <p:txBody>
          <a:bodyPr wrap="square">
            <a:spAutoFit/>
          </a:bodyPr>
          <a:lstStyle/>
          <a:p>
            <a:r>
              <a:rPr lang="en-PK" dirty="0"/>
              <a:t>https://en.wikipedia.org/wiki/Semantic_Web#Web_3.0</a:t>
            </a:r>
          </a:p>
        </p:txBody>
      </p:sp>
    </p:spTree>
    <p:extLst>
      <p:ext uri="{BB962C8B-B14F-4D97-AF65-F5344CB8AC3E}">
        <p14:creationId xmlns:p14="http://schemas.microsoft.com/office/powerpoint/2010/main" val="20538918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4148EF-FEEF-438C-B318-38516D96D988}"/>
              </a:ext>
            </a:extLst>
          </p:cNvPr>
          <p:cNvPicPr>
            <a:picLocks noChangeAspect="1"/>
          </p:cNvPicPr>
          <p:nvPr/>
        </p:nvPicPr>
        <p:blipFill>
          <a:blip r:embed="rId2"/>
          <a:stretch>
            <a:fillRect/>
          </a:stretch>
        </p:blipFill>
        <p:spPr>
          <a:xfrm>
            <a:off x="2884034" y="28575"/>
            <a:ext cx="4964246" cy="6829425"/>
          </a:xfrm>
          <a:prstGeom prst="rect">
            <a:avLst/>
          </a:prstGeom>
        </p:spPr>
      </p:pic>
      <p:sp>
        <p:nvSpPr>
          <p:cNvPr id="6" name="TextBox 5">
            <a:extLst>
              <a:ext uri="{FF2B5EF4-FFF2-40B4-BE49-F238E27FC236}">
                <a16:creationId xmlns:a16="http://schemas.microsoft.com/office/drawing/2014/main" id="{B3FEEDAA-8276-436D-AB7C-569753A53B48}"/>
              </a:ext>
            </a:extLst>
          </p:cNvPr>
          <p:cNvSpPr txBox="1"/>
          <p:nvPr/>
        </p:nvSpPr>
        <p:spPr>
          <a:xfrm>
            <a:off x="9187543" y="5515429"/>
            <a:ext cx="1531894" cy="369332"/>
          </a:xfrm>
          <a:prstGeom prst="rect">
            <a:avLst/>
          </a:prstGeom>
          <a:noFill/>
        </p:spPr>
        <p:txBody>
          <a:bodyPr wrap="none" rtlCol="0">
            <a:spAutoFit/>
          </a:bodyPr>
          <a:lstStyle/>
          <a:p>
            <a:r>
              <a:rPr lang="en-US" dirty="0"/>
              <a:t>Chaudry, 2014</a:t>
            </a:r>
            <a:endParaRPr lang="en-PK" dirty="0"/>
          </a:p>
        </p:txBody>
      </p:sp>
    </p:spTree>
    <p:extLst>
      <p:ext uri="{BB962C8B-B14F-4D97-AF65-F5344CB8AC3E}">
        <p14:creationId xmlns:p14="http://schemas.microsoft.com/office/powerpoint/2010/main" val="19850311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DF529-51C7-4A76-971A-054239A92E6A}"/>
              </a:ext>
            </a:extLst>
          </p:cNvPr>
          <p:cNvSpPr>
            <a:spLocks noGrp="1"/>
          </p:cNvSpPr>
          <p:nvPr>
            <p:ph type="title"/>
          </p:nvPr>
        </p:nvSpPr>
        <p:spPr/>
        <p:txBody>
          <a:bodyPr/>
          <a:lstStyle/>
          <a:p>
            <a:r>
              <a:rPr lang="en-US" dirty="0"/>
              <a:t>WEB 4.0 AND FUTURE WEB</a:t>
            </a:r>
            <a:endParaRPr lang="en-PK" dirty="0"/>
          </a:p>
        </p:txBody>
      </p:sp>
      <p:sp>
        <p:nvSpPr>
          <p:cNvPr id="3" name="Content Placeholder 2">
            <a:extLst>
              <a:ext uri="{FF2B5EF4-FFF2-40B4-BE49-F238E27FC236}">
                <a16:creationId xmlns:a16="http://schemas.microsoft.com/office/drawing/2014/main" id="{9753407A-6C77-4EA0-A281-3D9C900652D6}"/>
              </a:ext>
            </a:extLst>
          </p:cNvPr>
          <p:cNvSpPr>
            <a:spLocks noGrp="1"/>
          </p:cNvSpPr>
          <p:nvPr>
            <p:ph idx="1"/>
          </p:nvPr>
        </p:nvSpPr>
        <p:spPr/>
        <p:txBody>
          <a:bodyPr>
            <a:normAutofit/>
          </a:bodyPr>
          <a:lstStyle/>
          <a:p>
            <a:r>
              <a:rPr lang="en-US" dirty="0"/>
              <a:t>Web 4.0 can be considered as an Ultra-Intelligent Electronic Agent, symbiotic web and Ubiquitous web.</a:t>
            </a:r>
          </a:p>
          <a:p>
            <a:r>
              <a:rPr lang="en-US" dirty="0"/>
              <a:t>Interaction between humans and machines in symbiosis was motive behind of the symbiotic web.</a:t>
            </a:r>
          </a:p>
          <a:p>
            <a:r>
              <a:rPr lang="en-US" dirty="0"/>
              <a:t>Powerful as human brain, progress in the development of telecommunications, advancement on nanotechnology in the world and controlled interfaces using web 4.0. </a:t>
            </a:r>
          </a:p>
          <a:p>
            <a:r>
              <a:rPr lang="en-US" dirty="0" err="1"/>
              <a:t>Insimple</a:t>
            </a:r>
            <a:r>
              <a:rPr lang="en-US" dirty="0"/>
              <a:t> words, machines would be clever on reading the contents of the web, and react in the form of executing and deciding what to execute first to load the websites fast with superior quality and performance and build more commanding interfaces</a:t>
            </a:r>
            <a:endParaRPr lang="en-PK" dirty="0"/>
          </a:p>
        </p:txBody>
      </p:sp>
    </p:spTree>
    <p:extLst>
      <p:ext uri="{BB962C8B-B14F-4D97-AF65-F5344CB8AC3E}">
        <p14:creationId xmlns:p14="http://schemas.microsoft.com/office/powerpoint/2010/main" val="2808087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0EDA6-4274-452F-B68D-4E259ED9B6F7}"/>
              </a:ext>
            </a:extLst>
          </p:cNvPr>
          <p:cNvSpPr>
            <a:spLocks noGrp="1"/>
          </p:cNvSpPr>
          <p:nvPr>
            <p:ph type="title"/>
          </p:nvPr>
        </p:nvSpPr>
        <p:spPr/>
        <p:txBody>
          <a:bodyPr/>
          <a:lstStyle/>
          <a:p>
            <a:r>
              <a:rPr lang="en-US" dirty="0"/>
              <a:t>Static Website VS Dynamic Website</a:t>
            </a:r>
            <a:endParaRPr lang="en-PK" dirty="0"/>
          </a:p>
        </p:txBody>
      </p:sp>
      <p:sp>
        <p:nvSpPr>
          <p:cNvPr id="3" name="Content Placeholder 2">
            <a:extLst>
              <a:ext uri="{FF2B5EF4-FFF2-40B4-BE49-F238E27FC236}">
                <a16:creationId xmlns:a16="http://schemas.microsoft.com/office/drawing/2014/main" id="{B5E8CF96-1BBC-4B4D-AB3E-003B0A704400}"/>
              </a:ext>
            </a:extLst>
          </p:cNvPr>
          <p:cNvSpPr>
            <a:spLocks noGrp="1"/>
          </p:cNvSpPr>
          <p:nvPr>
            <p:ph idx="1"/>
          </p:nvPr>
        </p:nvSpPr>
        <p:spPr/>
        <p:txBody>
          <a:bodyPr/>
          <a:lstStyle/>
          <a:p>
            <a:r>
              <a:rPr lang="en-US" b="0" i="0" dirty="0">
                <a:solidFill>
                  <a:srgbClr val="4A4A4F"/>
                </a:solidFill>
                <a:effectLst/>
                <a:latin typeface="avenir-regular"/>
              </a:rPr>
              <a:t>Websites are separated into two different types: </a:t>
            </a:r>
          </a:p>
          <a:p>
            <a:pPr marL="749808" lvl="1" indent="-457200">
              <a:buFont typeface="+mj-lt"/>
              <a:buAutoNum type="arabicPeriod"/>
            </a:pPr>
            <a:r>
              <a:rPr lang="en-US" sz="2400" b="0" i="0" dirty="0">
                <a:solidFill>
                  <a:srgbClr val="4A4A4F"/>
                </a:solidFill>
                <a:effectLst/>
                <a:latin typeface="avenir-regular"/>
              </a:rPr>
              <a:t>Static</a:t>
            </a:r>
          </a:p>
          <a:p>
            <a:pPr marL="749808" lvl="1" indent="-457200">
              <a:buFont typeface="+mj-lt"/>
              <a:buAutoNum type="arabicPeriod"/>
            </a:pPr>
            <a:r>
              <a:rPr lang="en-US" sz="2400" b="0" i="0" dirty="0">
                <a:solidFill>
                  <a:srgbClr val="4A4A4F"/>
                </a:solidFill>
                <a:effectLst/>
                <a:latin typeface="avenir-regular"/>
              </a:rPr>
              <a:t>dynamic.</a:t>
            </a:r>
          </a:p>
          <a:p>
            <a:r>
              <a:rPr lang="en-US" b="0" i="0" dirty="0">
                <a:solidFill>
                  <a:srgbClr val="4A4A4F"/>
                </a:solidFill>
                <a:effectLst/>
                <a:latin typeface="avenir-regular"/>
              </a:rPr>
              <a:t> </a:t>
            </a:r>
            <a:r>
              <a:rPr lang="en-US" b="1" i="0" dirty="0">
                <a:solidFill>
                  <a:srgbClr val="4A4A4F"/>
                </a:solidFill>
                <a:effectLst/>
                <a:latin typeface="avenir-regular"/>
              </a:rPr>
              <a:t>Static </a:t>
            </a:r>
            <a:r>
              <a:rPr lang="en-US" b="0" i="0" dirty="0">
                <a:solidFill>
                  <a:srgbClr val="4A4A4F"/>
                </a:solidFill>
                <a:effectLst/>
                <a:latin typeface="avenir-regular"/>
              </a:rPr>
              <a:t>websites are ones that are fixed and display the same content for every user, usually written exclusively in HTML. static websites are easier to create.</a:t>
            </a:r>
          </a:p>
          <a:p>
            <a:r>
              <a:rPr lang="en-US" b="0" i="0" dirty="0">
                <a:solidFill>
                  <a:srgbClr val="4A4A4F"/>
                </a:solidFill>
                <a:effectLst/>
                <a:latin typeface="avenir-regular"/>
              </a:rPr>
              <a:t>A dynamic website, on the other hand, is one that can display different content and provide user interaction, by making use of advanced programming and databases in addition to HTML.</a:t>
            </a:r>
            <a:r>
              <a:rPr lang="en-US" dirty="0">
                <a:solidFill>
                  <a:srgbClr val="4A4A4F"/>
                </a:solidFill>
                <a:latin typeface="avenir-regular"/>
              </a:rPr>
              <a:t> </a:t>
            </a:r>
            <a:r>
              <a:rPr lang="en-US" b="0" i="0" dirty="0" err="1">
                <a:solidFill>
                  <a:srgbClr val="4A4A4F"/>
                </a:solidFill>
                <a:effectLst/>
                <a:latin typeface="avenir-regular"/>
              </a:rPr>
              <a:t>ynamic</a:t>
            </a:r>
            <a:r>
              <a:rPr lang="en-US" b="0" i="0" dirty="0">
                <a:solidFill>
                  <a:srgbClr val="4A4A4F"/>
                </a:solidFill>
                <a:effectLst/>
                <a:latin typeface="avenir-regular"/>
              </a:rPr>
              <a:t> websites require more work</a:t>
            </a:r>
            <a:r>
              <a:rPr lang="en-US" dirty="0">
                <a:solidFill>
                  <a:srgbClr val="4A4A4F"/>
                </a:solidFill>
                <a:latin typeface="avenir-regular"/>
              </a:rPr>
              <a:t>.</a:t>
            </a:r>
            <a:endParaRPr lang="en-US" b="0" i="0" dirty="0">
              <a:solidFill>
                <a:srgbClr val="4A4A4F"/>
              </a:solidFill>
              <a:effectLst/>
              <a:latin typeface="avenir-regular"/>
            </a:endParaRPr>
          </a:p>
          <a:p>
            <a:endParaRPr lang="en-PK" dirty="0"/>
          </a:p>
        </p:txBody>
      </p:sp>
      <p:sp>
        <p:nvSpPr>
          <p:cNvPr id="5" name="TextBox 4">
            <a:extLst>
              <a:ext uri="{FF2B5EF4-FFF2-40B4-BE49-F238E27FC236}">
                <a16:creationId xmlns:a16="http://schemas.microsoft.com/office/drawing/2014/main" id="{241C9289-08FA-448B-81AD-91E7FD29B696}"/>
              </a:ext>
            </a:extLst>
          </p:cNvPr>
          <p:cNvSpPr txBox="1"/>
          <p:nvPr/>
        </p:nvSpPr>
        <p:spPr>
          <a:xfrm>
            <a:off x="7216849" y="6081745"/>
            <a:ext cx="6097772" cy="369332"/>
          </a:xfrm>
          <a:prstGeom prst="rect">
            <a:avLst/>
          </a:prstGeom>
          <a:noFill/>
        </p:spPr>
        <p:txBody>
          <a:bodyPr wrap="square">
            <a:spAutoFit/>
          </a:bodyPr>
          <a:lstStyle/>
          <a:p>
            <a:r>
              <a:rPr lang="en-PK" dirty="0"/>
              <a:t>https://wpamelia.com/static-vs-dynamic-website/</a:t>
            </a:r>
          </a:p>
        </p:txBody>
      </p:sp>
    </p:spTree>
    <p:extLst>
      <p:ext uri="{BB962C8B-B14F-4D97-AF65-F5344CB8AC3E}">
        <p14:creationId xmlns:p14="http://schemas.microsoft.com/office/powerpoint/2010/main" val="29059467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0EDA6-4274-452F-B68D-4E259ED9B6F7}"/>
              </a:ext>
            </a:extLst>
          </p:cNvPr>
          <p:cNvSpPr>
            <a:spLocks noGrp="1"/>
          </p:cNvSpPr>
          <p:nvPr>
            <p:ph type="title"/>
          </p:nvPr>
        </p:nvSpPr>
        <p:spPr/>
        <p:txBody>
          <a:bodyPr/>
          <a:lstStyle/>
          <a:p>
            <a:r>
              <a:rPr lang="en-US" dirty="0"/>
              <a:t>Static Website</a:t>
            </a:r>
            <a:endParaRPr lang="en-PK" dirty="0"/>
          </a:p>
        </p:txBody>
      </p:sp>
      <p:sp>
        <p:nvSpPr>
          <p:cNvPr id="3" name="Content Placeholder 2">
            <a:extLst>
              <a:ext uri="{FF2B5EF4-FFF2-40B4-BE49-F238E27FC236}">
                <a16:creationId xmlns:a16="http://schemas.microsoft.com/office/drawing/2014/main" id="{B5E8CF96-1BBC-4B4D-AB3E-003B0A704400}"/>
              </a:ext>
            </a:extLst>
          </p:cNvPr>
          <p:cNvSpPr>
            <a:spLocks noGrp="1"/>
          </p:cNvSpPr>
          <p:nvPr>
            <p:ph idx="1"/>
          </p:nvPr>
        </p:nvSpPr>
        <p:spPr/>
        <p:txBody>
          <a:bodyPr/>
          <a:lstStyle/>
          <a:p>
            <a:r>
              <a:rPr lang="en-US" b="0" i="0" dirty="0">
                <a:solidFill>
                  <a:srgbClr val="333333"/>
                </a:solidFill>
                <a:effectLst/>
                <a:latin typeface="Inter-Regular"/>
              </a:rPr>
              <a:t>You don't need the knowledge of web programming and database design to create a static website. Its web pages are coded in HTML. </a:t>
            </a:r>
          </a:p>
          <a:p>
            <a:r>
              <a:rPr lang="en-US" b="0" i="0" dirty="0">
                <a:solidFill>
                  <a:srgbClr val="333333"/>
                </a:solidFill>
                <a:effectLst/>
                <a:latin typeface="Inter-Regular"/>
              </a:rPr>
              <a:t>The codes are fixed for each page so the information contained in the page does not change and it looks like a printed page.</a:t>
            </a:r>
            <a:endParaRPr lang="en-US" dirty="0">
              <a:solidFill>
                <a:srgbClr val="333333"/>
              </a:solidFill>
              <a:latin typeface="Inter-Regular"/>
            </a:endParaRPr>
          </a:p>
          <a:p>
            <a:r>
              <a:rPr lang="en-US" b="0" i="0" dirty="0">
                <a:solidFill>
                  <a:srgbClr val="4A4A4F"/>
                </a:solidFill>
                <a:effectLst/>
                <a:latin typeface="avenir-regular"/>
              </a:rPr>
              <a:t>you can use various multimedia elements and videos. An HTML website can look beautiful, but the page’s </a:t>
            </a:r>
            <a:r>
              <a:rPr lang="en-US" b="0" i="0" u="none" strike="noStrike" dirty="0">
                <a:solidFill>
                  <a:srgbClr val="1E87F0"/>
                </a:solidFill>
                <a:effectLst/>
                <a:latin typeface="avenir-regular"/>
              </a:rPr>
              <a:t>source code</a:t>
            </a:r>
            <a:r>
              <a:rPr lang="en-US" b="0" i="0" dirty="0">
                <a:solidFill>
                  <a:srgbClr val="4A4A4F"/>
                </a:solidFill>
                <a:effectLst/>
                <a:latin typeface="avenir-regular"/>
              </a:rPr>
              <a:t> won’t change, no matter what actions a user takes on it.</a:t>
            </a:r>
          </a:p>
          <a:p>
            <a:endParaRPr lang="en-PK" dirty="0"/>
          </a:p>
        </p:txBody>
      </p:sp>
    </p:spTree>
    <p:extLst>
      <p:ext uri="{BB962C8B-B14F-4D97-AF65-F5344CB8AC3E}">
        <p14:creationId xmlns:p14="http://schemas.microsoft.com/office/powerpoint/2010/main" val="1382673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A3F9E-2999-4D7C-9B90-891F41E8BC2B}"/>
              </a:ext>
            </a:extLst>
          </p:cNvPr>
          <p:cNvSpPr>
            <a:spLocks noGrp="1"/>
          </p:cNvSpPr>
          <p:nvPr>
            <p:ph type="title"/>
          </p:nvPr>
        </p:nvSpPr>
        <p:spPr/>
        <p:txBody>
          <a:bodyPr/>
          <a:lstStyle/>
          <a:p>
            <a:r>
              <a:rPr lang="en-US" dirty="0"/>
              <a:t>Static Website VS Dynamic Website</a:t>
            </a:r>
            <a:endParaRPr lang="en-PK" dirty="0"/>
          </a:p>
        </p:txBody>
      </p:sp>
      <p:sp>
        <p:nvSpPr>
          <p:cNvPr id="3" name="Content Placeholder 2">
            <a:extLst>
              <a:ext uri="{FF2B5EF4-FFF2-40B4-BE49-F238E27FC236}">
                <a16:creationId xmlns:a16="http://schemas.microsoft.com/office/drawing/2014/main" id="{49AFBEEE-A417-4903-A18B-8C5FE267F710}"/>
              </a:ext>
            </a:extLst>
          </p:cNvPr>
          <p:cNvSpPr>
            <a:spLocks noGrp="1"/>
          </p:cNvSpPr>
          <p:nvPr>
            <p:ph idx="1"/>
          </p:nvPr>
        </p:nvSpPr>
        <p:spPr/>
        <p:txBody>
          <a:bodyPr>
            <a:normAutofit lnSpcReduction="10000"/>
          </a:bodyPr>
          <a:lstStyle/>
          <a:p>
            <a:r>
              <a:rPr lang="en-US" b="0" i="0" dirty="0">
                <a:solidFill>
                  <a:srgbClr val="4A4A4F"/>
                </a:solidFill>
                <a:effectLst/>
                <a:latin typeface="avenir-regular"/>
              </a:rPr>
              <a:t>a dynamic website is more functional. It allows users to interact with the information that is listed on the page. Of course, that requires utilizing more than just HTML code.</a:t>
            </a:r>
          </a:p>
          <a:p>
            <a:r>
              <a:rPr lang="en-US" b="0" i="0" dirty="0">
                <a:solidFill>
                  <a:srgbClr val="4A4A4F"/>
                </a:solidFill>
                <a:effectLst/>
                <a:latin typeface="avenir-regular"/>
              </a:rPr>
              <a:t>Static websites use only client-side HTML and CSS code while dynamic websites rely on both client-side and server-side scripting languages such as </a:t>
            </a:r>
            <a:r>
              <a:rPr lang="en-US" b="0" i="0" dirty="0" err="1">
                <a:solidFill>
                  <a:srgbClr val="4A4A4F"/>
                </a:solidFill>
                <a:effectLst/>
                <a:latin typeface="avenir-regular"/>
              </a:rPr>
              <a:t>JavaScr</a:t>
            </a:r>
            <a:endParaRPr lang="en-US" b="0" i="0" dirty="0">
              <a:solidFill>
                <a:srgbClr val="4A4A4F"/>
              </a:solidFill>
              <a:effectLst/>
              <a:latin typeface="avenir-regular"/>
            </a:endParaRPr>
          </a:p>
          <a:p>
            <a:r>
              <a:rPr lang="en-US" b="0" i="0" dirty="0">
                <a:solidFill>
                  <a:srgbClr val="4A4A4F"/>
                </a:solidFill>
                <a:effectLst/>
                <a:latin typeface="avenir-regular"/>
              </a:rPr>
              <a:t>When a user accesses a dynamic website, the site can be changed through code that is run in the browser and/or on the server. The end result is the same as that on a static website: an HTML page displayed on the web </a:t>
            </a:r>
            <a:r>
              <a:rPr lang="en-US" b="0" i="0" dirty="0" err="1">
                <a:solidFill>
                  <a:srgbClr val="4A4A4F"/>
                </a:solidFill>
                <a:effectLst/>
                <a:latin typeface="avenir-regular"/>
              </a:rPr>
              <a:t>browser.ipt</a:t>
            </a:r>
            <a:r>
              <a:rPr lang="en-US" b="0" i="0" dirty="0">
                <a:solidFill>
                  <a:srgbClr val="4A4A4F"/>
                </a:solidFill>
                <a:effectLst/>
                <a:latin typeface="avenir-regular"/>
              </a:rPr>
              <a:t>, PHP, or ASP. </a:t>
            </a:r>
          </a:p>
          <a:p>
            <a:r>
              <a:rPr lang="en-US" b="0" i="0" dirty="0">
                <a:solidFill>
                  <a:srgbClr val="4A4A4F"/>
                </a:solidFill>
                <a:effectLst/>
                <a:latin typeface="avenir-regular"/>
              </a:rPr>
              <a:t>To generate dynamic content, such websites use a combination of server-side and client-side scripting. Client-side scripting refers to code that is executed by the browser, usually with JavaScript. Meanwhile, server-side scripting refers to code that is executed by the server (before the content is sent to the user’s browser).</a:t>
            </a:r>
          </a:p>
          <a:p>
            <a:r>
              <a:rPr lang="en-US" b="0" i="0" dirty="0">
                <a:solidFill>
                  <a:srgbClr val="4A4A4F"/>
                </a:solidFill>
                <a:effectLst/>
                <a:latin typeface="avenir-regular"/>
              </a:rPr>
              <a:t>dynamic websites include aspects that are characterized by interactivity and functionality.</a:t>
            </a:r>
            <a:endParaRPr lang="en-PK" dirty="0"/>
          </a:p>
        </p:txBody>
      </p:sp>
    </p:spTree>
    <p:extLst>
      <p:ext uri="{BB962C8B-B14F-4D97-AF65-F5344CB8AC3E}">
        <p14:creationId xmlns:p14="http://schemas.microsoft.com/office/powerpoint/2010/main" val="36822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A3F9E-2999-4D7C-9B90-891F41E8BC2B}"/>
              </a:ext>
            </a:extLst>
          </p:cNvPr>
          <p:cNvSpPr>
            <a:spLocks noGrp="1"/>
          </p:cNvSpPr>
          <p:nvPr>
            <p:ph type="title"/>
          </p:nvPr>
        </p:nvSpPr>
        <p:spPr/>
        <p:txBody>
          <a:bodyPr/>
          <a:lstStyle/>
          <a:p>
            <a:r>
              <a:rPr lang="en-US" dirty="0"/>
              <a:t>Static Website VS Dynamic Website</a:t>
            </a:r>
            <a:endParaRPr lang="en-PK" dirty="0"/>
          </a:p>
        </p:txBody>
      </p:sp>
      <p:sp>
        <p:nvSpPr>
          <p:cNvPr id="3" name="Content Placeholder 2">
            <a:extLst>
              <a:ext uri="{FF2B5EF4-FFF2-40B4-BE49-F238E27FC236}">
                <a16:creationId xmlns:a16="http://schemas.microsoft.com/office/drawing/2014/main" id="{49AFBEEE-A417-4903-A18B-8C5FE267F710}"/>
              </a:ext>
            </a:extLst>
          </p:cNvPr>
          <p:cNvSpPr>
            <a:spLocks noGrp="1"/>
          </p:cNvSpPr>
          <p:nvPr>
            <p:ph idx="1"/>
          </p:nvPr>
        </p:nvSpPr>
        <p:spPr/>
        <p:txBody>
          <a:bodyPr>
            <a:normAutofit/>
          </a:bodyPr>
          <a:lstStyle/>
          <a:p>
            <a:r>
              <a:rPr lang="en-US" b="0" i="0" dirty="0">
                <a:solidFill>
                  <a:srgbClr val="4A4A4F"/>
                </a:solidFill>
                <a:effectLst/>
                <a:latin typeface="avenir-regular"/>
              </a:rPr>
              <a:t>The only way that a user can interact with a static page is by clicking hyperlinks and filling in forms (such as a contact form).</a:t>
            </a:r>
          </a:p>
          <a:p>
            <a:r>
              <a:rPr lang="en-US" b="0" i="0" dirty="0">
                <a:solidFill>
                  <a:srgbClr val="4A4A4F"/>
                </a:solidFill>
                <a:effectLst/>
                <a:latin typeface="avenir-regular"/>
              </a:rPr>
              <a:t>Dynamic websites are ultimately based on HTML and CSS as well, but server-side scripting is required to make them functional. </a:t>
            </a:r>
          </a:p>
          <a:p>
            <a:r>
              <a:rPr lang="en-US" b="0" i="0" dirty="0">
                <a:solidFill>
                  <a:srgbClr val="4A4A4F"/>
                </a:solidFill>
                <a:effectLst/>
                <a:latin typeface="avenir-regular"/>
              </a:rPr>
              <a:t>HTML coding is used to create the basic design elements, while server-side languages are used to manage events and control actions that may occur on the dynamic page. </a:t>
            </a:r>
            <a:endParaRPr lang="en-PK" dirty="0"/>
          </a:p>
        </p:txBody>
      </p:sp>
      <p:sp>
        <p:nvSpPr>
          <p:cNvPr id="5" name="TextBox 4">
            <a:extLst>
              <a:ext uri="{FF2B5EF4-FFF2-40B4-BE49-F238E27FC236}">
                <a16:creationId xmlns:a16="http://schemas.microsoft.com/office/drawing/2014/main" id="{BF5A8E35-66ED-44D3-B451-4F0B5160B57F}"/>
              </a:ext>
            </a:extLst>
          </p:cNvPr>
          <p:cNvSpPr txBox="1"/>
          <p:nvPr/>
        </p:nvSpPr>
        <p:spPr>
          <a:xfrm>
            <a:off x="7312542" y="6072595"/>
            <a:ext cx="6097772" cy="369332"/>
          </a:xfrm>
          <a:prstGeom prst="rect">
            <a:avLst/>
          </a:prstGeom>
          <a:noFill/>
        </p:spPr>
        <p:txBody>
          <a:bodyPr wrap="square">
            <a:spAutoFit/>
          </a:bodyPr>
          <a:lstStyle/>
          <a:p>
            <a:r>
              <a:rPr lang="en-PK" dirty="0"/>
              <a:t>https://wpamelia.com/static-vs-dynamic-website/</a:t>
            </a:r>
          </a:p>
        </p:txBody>
      </p:sp>
    </p:spTree>
    <p:extLst>
      <p:ext uri="{BB962C8B-B14F-4D97-AF65-F5344CB8AC3E}">
        <p14:creationId xmlns:p14="http://schemas.microsoft.com/office/powerpoint/2010/main" val="524448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rvlet Website2">
            <a:extLst>
              <a:ext uri="{FF2B5EF4-FFF2-40B4-BE49-F238E27FC236}">
                <a16:creationId xmlns:a16="http://schemas.microsoft.com/office/drawing/2014/main" id="{D368EB70-BE62-4F46-A0BB-27D226C023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316" y="1818389"/>
            <a:ext cx="5397604" cy="22857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rvlet Website3">
            <a:extLst>
              <a:ext uri="{FF2B5EF4-FFF2-40B4-BE49-F238E27FC236}">
                <a16:creationId xmlns:a16="http://schemas.microsoft.com/office/drawing/2014/main" id="{ED6AEF3E-3AD1-4CD8-A102-CBEC8B77D8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9349" y="1598760"/>
            <a:ext cx="4562475" cy="2809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2523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47BFE-B26A-4070-A004-E383174530B5}"/>
              </a:ext>
            </a:extLst>
          </p:cNvPr>
          <p:cNvSpPr>
            <a:spLocks noGrp="1"/>
          </p:cNvSpPr>
          <p:nvPr>
            <p:ph type="title"/>
          </p:nvPr>
        </p:nvSpPr>
        <p:spPr/>
        <p:txBody>
          <a:bodyPr/>
          <a:lstStyle/>
          <a:p>
            <a:r>
              <a:rPr lang="en-US" dirty="0"/>
              <a:t>Static VS Dynamic Websites</a:t>
            </a:r>
            <a:endParaRPr lang="en-PK" dirty="0"/>
          </a:p>
        </p:txBody>
      </p:sp>
      <p:graphicFrame>
        <p:nvGraphicFramePr>
          <p:cNvPr id="4" name="Content Placeholder 3">
            <a:extLst>
              <a:ext uri="{FF2B5EF4-FFF2-40B4-BE49-F238E27FC236}">
                <a16:creationId xmlns:a16="http://schemas.microsoft.com/office/drawing/2014/main" id="{08E857BB-C952-4145-8B35-2737837FFEF2}"/>
              </a:ext>
            </a:extLst>
          </p:cNvPr>
          <p:cNvGraphicFramePr>
            <a:graphicFrameLocks noGrp="1"/>
          </p:cNvGraphicFramePr>
          <p:nvPr>
            <p:ph idx="1"/>
            <p:extLst>
              <p:ext uri="{D42A27DB-BD31-4B8C-83A1-F6EECF244321}">
                <p14:modId xmlns:p14="http://schemas.microsoft.com/office/powerpoint/2010/main" val="1005923638"/>
              </p:ext>
            </p:extLst>
          </p:nvPr>
        </p:nvGraphicFramePr>
        <p:xfrm>
          <a:off x="893135" y="1815199"/>
          <a:ext cx="10451805" cy="4483333"/>
        </p:xfrm>
        <a:graphic>
          <a:graphicData uri="http://schemas.openxmlformats.org/drawingml/2006/table">
            <a:tbl>
              <a:tblPr/>
              <a:tblGrid>
                <a:gridCol w="5439093">
                  <a:extLst>
                    <a:ext uri="{9D8B030D-6E8A-4147-A177-3AD203B41FA5}">
                      <a16:colId xmlns:a16="http://schemas.microsoft.com/office/drawing/2014/main" val="3515513746"/>
                    </a:ext>
                  </a:extLst>
                </a:gridCol>
                <a:gridCol w="5012712">
                  <a:extLst>
                    <a:ext uri="{9D8B030D-6E8A-4147-A177-3AD203B41FA5}">
                      <a16:colId xmlns:a16="http://schemas.microsoft.com/office/drawing/2014/main" val="1185416211"/>
                    </a:ext>
                  </a:extLst>
                </a:gridCol>
              </a:tblGrid>
              <a:tr h="256380">
                <a:tc>
                  <a:txBody>
                    <a:bodyPr/>
                    <a:lstStyle/>
                    <a:p>
                      <a:pPr algn="l" fontAlgn="t"/>
                      <a:r>
                        <a:rPr lang="en-US" sz="2000">
                          <a:solidFill>
                            <a:srgbClr val="000000"/>
                          </a:solidFill>
                          <a:effectLst/>
                          <a:latin typeface="times new roman" panose="02020603050405020304" pitchFamily="18" charset="0"/>
                        </a:rPr>
                        <a:t>Static Website</a:t>
                      </a:r>
                    </a:p>
                  </a:txBody>
                  <a:tcPr marL="45782" marR="45782" marT="45782" marB="45782">
                    <a:lnL w="6350" cap="flat" cmpd="sng" algn="ctr">
                      <a:solidFill>
                        <a:srgbClr val="108273"/>
                      </a:solidFill>
                      <a:prstDash val="solid"/>
                      <a:round/>
                      <a:headEnd type="none" w="med" len="med"/>
                      <a:tailEnd type="none" w="med" len="med"/>
                    </a:lnL>
                    <a:lnR w="6350" cap="flat" cmpd="sng" algn="ctr">
                      <a:solidFill>
                        <a:srgbClr val="108273"/>
                      </a:solidFill>
                      <a:prstDash val="solid"/>
                      <a:round/>
                      <a:headEnd type="none" w="med" len="med"/>
                      <a:tailEnd type="none" w="med" len="med"/>
                    </a:lnR>
                    <a:lnT w="6350" cap="flat" cmpd="sng" algn="ctr">
                      <a:solidFill>
                        <a:srgbClr val="108273"/>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000">
                          <a:solidFill>
                            <a:srgbClr val="000000"/>
                          </a:solidFill>
                          <a:effectLst/>
                          <a:latin typeface="times new roman" panose="02020603050405020304" pitchFamily="18" charset="0"/>
                        </a:rPr>
                        <a:t>Dynamic Website</a:t>
                      </a:r>
                    </a:p>
                  </a:txBody>
                  <a:tcPr marL="45782" marR="45782" marT="45782" marB="45782">
                    <a:lnL w="6350" cap="flat" cmpd="sng" algn="ctr">
                      <a:solidFill>
                        <a:srgbClr val="108273"/>
                      </a:solidFill>
                      <a:prstDash val="solid"/>
                      <a:round/>
                      <a:headEnd type="none" w="med" len="med"/>
                      <a:tailEnd type="none" w="med" len="med"/>
                    </a:lnL>
                    <a:lnR w="6350" cap="flat" cmpd="sng" algn="ctr">
                      <a:solidFill>
                        <a:srgbClr val="108273"/>
                      </a:solidFill>
                      <a:prstDash val="solid"/>
                      <a:round/>
                      <a:headEnd type="none" w="med" len="med"/>
                      <a:tailEnd type="none" w="med" len="med"/>
                    </a:lnR>
                    <a:lnT w="6350" cap="flat" cmpd="sng" algn="ctr">
                      <a:solidFill>
                        <a:srgbClr val="108273"/>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960199654"/>
                  </a:ext>
                </a:extLst>
              </a:tr>
              <a:tr h="555490">
                <a:tc>
                  <a:txBody>
                    <a:bodyPr/>
                    <a:lstStyle/>
                    <a:p>
                      <a:pPr algn="just" fontAlgn="t"/>
                      <a:r>
                        <a:rPr lang="en-US" sz="2000">
                          <a:solidFill>
                            <a:srgbClr val="333333"/>
                          </a:solidFill>
                          <a:effectLst/>
                          <a:latin typeface="Inter-Regular"/>
                        </a:rPr>
                        <a:t>Prebuilt content is same every time the page is loaded.</a:t>
                      </a:r>
                    </a:p>
                  </a:txBody>
                  <a:tcPr marL="30521" marR="30521" marT="30521" marB="3052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rgbClr val="333333"/>
                          </a:solidFill>
                          <a:effectLst/>
                          <a:latin typeface="Inter-Regular"/>
                        </a:rPr>
                        <a:t>Content is generated quickly and changes regularly.</a:t>
                      </a:r>
                    </a:p>
                  </a:txBody>
                  <a:tcPr marL="30521" marR="30521" marT="30521" marB="3052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787203689"/>
                  </a:ext>
                </a:extLst>
              </a:tr>
              <a:tr h="885122">
                <a:tc>
                  <a:txBody>
                    <a:bodyPr/>
                    <a:lstStyle/>
                    <a:p>
                      <a:pPr algn="just" fontAlgn="t"/>
                      <a:r>
                        <a:rPr lang="en-US" sz="2000">
                          <a:solidFill>
                            <a:srgbClr val="333333"/>
                          </a:solidFill>
                          <a:effectLst/>
                          <a:latin typeface="Inter-Regular"/>
                        </a:rPr>
                        <a:t>It uses the </a:t>
                      </a:r>
                      <a:r>
                        <a:rPr lang="en-US" sz="2000" b="1">
                          <a:solidFill>
                            <a:srgbClr val="333333"/>
                          </a:solidFill>
                          <a:effectLst/>
                          <a:latin typeface="Inter-Bold"/>
                        </a:rPr>
                        <a:t>HTML </a:t>
                      </a:r>
                      <a:r>
                        <a:rPr lang="en-US" sz="2000">
                          <a:solidFill>
                            <a:srgbClr val="333333"/>
                          </a:solidFill>
                          <a:effectLst/>
                          <a:latin typeface="Inter-Regular"/>
                        </a:rPr>
                        <a:t>code for developing a website.</a:t>
                      </a:r>
                    </a:p>
                  </a:txBody>
                  <a:tcPr marL="30521" marR="30521" marT="30521" marB="3052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rgbClr val="333333"/>
                          </a:solidFill>
                          <a:effectLst/>
                          <a:latin typeface="Inter-Regular"/>
                        </a:rPr>
                        <a:t>It uses the server side languages such as </a:t>
                      </a:r>
                      <a:r>
                        <a:rPr lang="en-US" sz="2000" b="1">
                          <a:solidFill>
                            <a:srgbClr val="333333"/>
                          </a:solidFill>
                          <a:effectLst/>
                          <a:latin typeface="Inter-Bold"/>
                        </a:rPr>
                        <a:t>PHP,SERVLET, JSP, and ASP.NET </a:t>
                      </a:r>
                      <a:r>
                        <a:rPr lang="en-US" sz="2000">
                          <a:solidFill>
                            <a:srgbClr val="333333"/>
                          </a:solidFill>
                          <a:effectLst/>
                          <a:latin typeface="Inter-Regular"/>
                        </a:rPr>
                        <a:t>etc. for developing a website.</a:t>
                      </a:r>
                    </a:p>
                  </a:txBody>
                  <a:tcPr marL="30521" marR="30521" marT="30521" marB="3052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291339465"/>
                  </a:ext>
                </a:extLst>
              </a:tr>
              <a:tr h="555490">
                <a:tc>
                  <a:txBody>
                    <a:bodyPr/>
                    <a:lstStyle/>
                    <a:p>
                      <a:pPr algn="just" fontAlgn="t"/>
                      <a:r>
                        <a:rPr lang="en-US" sz="2000">
                          <a:solidFill>
                            <a:srgbClr val="333333"/>
                          </a:solidFill>
                          <a:effectLst/>
                          <a:latin typeface="Inter-Regular"/>
                        </a:rPr>
                        <a:t>It sends exactly the same response for every request.</a:t>
                      </a:r>
                    </a:p>
                  </a:txBody>
                  <a:tcPr marL="30521" marR="30521" marT="30521" marB="3052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rgbClr val="333333"/>
                          </a:solidFill>
                          <a:effectLst/>
                          <a:latin typeface="Inter-Regular"/>
                        </a:rPr>
                        <a:t>It may generate different HTML for each of the request.</a:t>
                      </a:r>
                    </a:p>
                  </a:txBody>
                  <a:tcPr marL="30521" marR="30521" marT="30521" marB="3052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901523297"/>
                  </a:ext>
                </a:extLst>
              </a:tr>
              <a:tr h="1049937">
                <a:tc>
                  <a:txBody>
                    <a:bodyPr/>
                    <a:lstStyle/>
                    <a:p>
                      <a:pPr algn="just" fontAlgn="t"/>
                      <a:r>
                        <a:rPr lang="en-US" sz="2000">
                          <a:solidFill>
                            <a:srgbClr val="333333"/>
                          </a:solidFill>
                          <a:effectLst/>
                          <a:latin typeface="Inter-Regular"/>
                        </a:rPr>
                        <a:t>The content is only changed when someone publishes and updates the file (sends it to the web server).</a:t>
                      </a:r>
                    </a:p>
                  </a:txBody>
                  <a:tcPr marL="30521" marR="30521" marT="30521" marB="3052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rgbClr val="333333"/>
                          </a:solidFill>
                          <a:effectLst/>
                          <a:latin typeface="Inter-Regular"/>
                        </a:rPr>
                        <a:t>The page contains "server-side" code which allows the server to generate the unique content when the page is loaded.</a:t>
                      </a:r>
                    </a:p>
                  </a:txBody>
                  <a:tcPr marL="30521" marR="30521" marT="30521" marB="3052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837458448"/>
                  </a:ext>
                </a:extLst>
              </a:tr>
              <a:tr h="720306">
                <a:tc>
                  <a:txBody>
                    <a:bodyPr/>
                    <a:lstStyle/>
                    <a:p>
                      <a:pPr algn="just" fontAlgn="t"/>
                      <a:r>
                        <a:rPr lang="en-US" sz="2000">
                          <a:solidFill>
                            <a:srgbClr val="333333"/>
                          </a:solidFill>
                          <a:effectLst/>
                          <a:latin typeface="Inter-Regular"/>
                        </a:rPr>
                        <a:t>Flexibility is the main advantage of static website.</a:t>
                      </a:r>
                    </a:p>
                  </a:txBody>
                  <a:tcPr marL="30521" marR="30521" marT="30521" marB="3052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rgbClr val="333333"/>
                          </a:solidFill>
                          <a:effectLst/>
                          <a:latin typeface="Inter-Regular"/>
                        </a:rPr>
                        <a:t>Content Management System (CMS) is the main advantage of dynamic website.</a:t>
                      </a:r>
                    </a:p>
                  </a:txBody>
                  <a:tcPr marL="30521" marR="30521" marT="30521" marB="3052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989061978"/>
                  </a:ext>
                </a:extLst>
              </a:tr>
            </a:tbl>
          </a:graphicData>
        </a:graphic>
      </p:graphicFrame>
    </p:spTree>
    <p:extLst>
      <p:ext uri="{BB962C8B-B14F-4D97-AF65-F5344CB8AC3E}">
        <p14:creationId xmlns:p14="http://schemas.microsoft.com/office/powerpoint/2010/main" val="9659848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9153-72FB-428F-AFB1-15FCD42A8641}"/>
              </a:ext>
            </a:extLst>
          </p:cNvPr>
          <p:cNvSpPr>
            <a:spLocks noGrp="1"/>
          </p:cNvSpPr>
          <p:nvPr>
            <p:ph type="title"/>
          </p:nvPr>
        </p:nvSpPr>
        <p:spPr/>
        <p:txBody>
          <a:bodyPr/>
          <a:lstStyle/>
          <a:p>
            <a:r>
              <a:rPr lang="en-US" dirty="0"/>
              <a:t>Architecture of Static &amp; Dynamic Website</a:t>
            </a:r>
            <a:endParaRPr lang="en-PK" dirty="0"/>
          </a:p>
        </p:txBody>
      </p:sp>
      <p:sp>
        <p:nvSpPr>
          <p:cNvPr id="5" name="TextBox 4">
            <a:extLst>
              <a:ext uri="{FF2B5EF4-FFF2-40B4-BE49-F238E27FC236}">
                <a16:creationId xmlns:a16="http://schemas.microsoft.com/office/drawing/2014/main" id="{5E89CBD7-5A7E-433C-8E01-E2C8FC610443}"/>
              </a:ext>
            </a:extLst>
          </p:cNvPr>
          <p:cNvSpPr txBox="1"/>
          <p:nvPr/>
        </p:nvSpPr>
        <p:spPr>
          <a:xfrm>
            <a:off x="297712" y="5708392"/>
            <a:ext cx="11894288" cy="677108"/>
          </a:xfrm>
          <a:prstGeom prst="rect">
            <a:avLst/>
          </a:prstGeom>
          <a:noFill/>
        </p:spPr>
        <p:txBody>
          <a:bodyPr wrap="square">
            <a:spAutoFit/>
          </a:bodyPr>
          <a:lstStyle/>
          <a:p>
            <a:r>
              <a:rPr lang="en-US" sz="2000" b="1" dirty="0">
                <a:solidFill>
                  <a:srgbClr val="FF0000"/>
                </a:solidFill>
              </a:rPr>
              <a:t>For detail visit: </a:t>
            </a:r>
          </a:p>
          <a:p>
            <a:r>
              <a:rPr lang="en-PK" dirty="0">
                <a:solidFill>
                  <a:srgbClr val="FF0000"/>
                </a:solidFill>
                <a:hlinkClick r:id="rId2"/>
              </a:rPr>
              <a:t>https://betterprogramming.pub/web-development-in-2021-dynamic-vs-static-vs-single-page-architecture-399d0c3defe6</a:t>
            </a:r>
            <a:endParaRPr lang="en-PK" dirty="0">
              <a:solidFill>
                <a:srgbClr val="FF0000"/>
              </a:solidFill>
            </a:endParaRPr>
          </a:p>
        </p:txBody>
      </p:sp>
      <p:pic>
        <p:nvPicPr>
          <p:cNvPr id="9" name="Picture 8">
            <a:extLst>
              <a:ext uri="{FF2B5EF4-FFF2-40B4-BE49-F238E27FC236}">
                <a16:creationId xmlns:a16="http://schemas.microsoft.com/office/drawing/2014/main" id="{2810611D-BF83-4BEA-BB26-A42E9B2B6D2E}"/>
              </a:ext>
            </a:extLst>
          </p:cNvPr>
          <p:cNvPicPr>
            <a:picLocks noChangeAspect="1"/>
          </p:cNvPicPr>
          <p:nvPr/>
        </p:nvPicPr>
        <p:blipFill>
          <a:blip r:embed="rId3"/>
          <a:stretch>
            <a:fillRect/>
          </a:stretch>
        </p:blipFill>
        <p:spPr>
          <a:xfrm>
            <a:off x="6751674" y="2009553"/>
            <a:ext cx="4628415" cy="3640887"/>
          </a:xfrm>
          <a:prstGeom prst="rect">
            <a:avLst/>
          </a:prstGeom>
        </p:spPr>
      </p:pic>
      <p:pic>
        <p:nvPicPr>
          <p:cNvPr id="11" name="Picture 10">
            <a:extLst>
              <a:ext uri="{FF2B5EF4-FFF2-40B4-BE49-F238E27FC236}">
                <a16:creationId xmlns:a16="http://schemas.microsoft.com/office/drawing/2014/main" id="{D093A745-96A7-4F7F-8A74-9085823DE690}"/>
              </a:ext>
            </a:extLst>
          </p:cNvPr>
          <p:cNvPicPr>
            <a:picLocks noChangeAspect="1"/>
          </p:cNvPicPr>
          <p:nvPr/>
        </p:nvPicPr>
        <p:blipFill>
          <a:blip r:embed="rId4"/>
          <a:stretch>
            <a:fillRect/>
          </a:stretch>
        </p:blipFill>
        <p:spPr>
          <a:xfrm>
            <a:off x="592233" y="1954332"/>
            <a:ext cx="5534247" cy="3753762"/>
          </a:xfrm>
          <a:prstGeom prst="rect">
            <a:avLst/>
          </a:prstGeom>
        </p:spPr>
      </p:pic>
    </p:spTree>
    <p:extLst>
      <p:ext uri="{BB962C8B-B14F-4D97-AF65-F5344CB8AC3E}">
        <p14:creationId xmlns:p14="http://schemas.microsoft.com/office/powerpoint/2010/main" val="14465976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1AE61-0D1E-467A-B3A6-EB0D43606461}"/>
              </a:ext>
            </a:extLst>
          </p:cNvPr>
          <p:cNvSpPr>
            <a:spLocks noGrp="1"/>
          </p:cNvSpPr>
          <p:nvPr>
            <p:ph type="title"/>
          </p:nvPr>
        </p:nvSpPr>
        <p:spPr/>
        <p:txBody>
          <a:bodyPr/>
          <a:lstStyle/>
          <a:p>
            <a:r>
              <a:rPr lang="en-US" dirty="0"/>
              <a:t>Referencing</a:t>
            </a:r>
            <a:endParaRPr lang="en-PK" dirty="0"/>
          </a:p>
        </p:txBody>
      </p:sp>
      <p:sp>
        <p:nvSpPr>
          <p:cNvPr id="3" name="Content Placeholder 2">
            <a:extLst>
              <a:ext uri="{FF2B5EF4-FFF2-40B4-BE49-F238E27FC236}">
                <a16:creationId xmlns:a16="http://schemas.microsoft.com/office/drawing/2014/main" id="{2470EC4A-C994-49C2-8FEB-31AAA6CF095A}"/>
              </a:ext>
            </a:extLst>
          </p:cNvPr>
          <p:cNvSpPr>
            <a:spLocks noGrp="1"/>
          </p:cNvSpPr>
          <p:nvPr>
            <p:ph idx="1"/>
          </p:nvPr>
        </p:nvSpPr>
        <p:spPr/>
        <p:txBody>
          <a:bodyPr/>
          <a:lstStyle/>
          <a:p>
            <a:pPr marL="361950" indent="-361950">
              <a:buFont typeface="Wingdings" panose="05000000000000000000" pitchFamily="2" charset="2"/>
              <a:buChar char="§"/>
            </a:pPr>
            <a:r>
              <a:rPr lang="en-US" dirty="0"/>
              <a:t>Chaudry N., 2014," World Wide Web and Its Journey from Web 1.0 to Web 4.0., International Journal of Computer Science and Information Technologies, Vol. 5 (6) , 2014, 8096-8100</a:t>
            </a:r>
          </a:p>
          <a:p>
            <a:pPr marL="361950" indent="-361950">
              <a:buFont typeface="Wingdings" panose="05000000000000000000" pitchFamily="2" charset="2"/>
              <a:buChar char="§"/>
            </a:pPr>
            <a:r>
              <a:rPr lang="en-US" dirty="0"/>
              <a:t>En.wikipwdia.org (13-06-2021)</a:t>
            </a:r>
          </a:p>
          <a:p>
            <a:pPr marL="361950" indent="-361950">
              <a:buFont typeface="Wingdings" panose="05000000000000000000" pitchFamily="2" charset="2"/>
              <a:buChar char="§"/>
            </a:pPr>
            <a:r>
              <a:rPr lang="en-US" dirty="0"/>
              <a:t>www.geeksforgeeks.org (13-06-2021)</a:t>
            </a:r>
          </a:p>
          <a:p>
            <a:pPr marL="361950" indent="-361950">
              <a:buFont typeface="Wingdings" panose="05000000000000000000" pitchFamily="2" charset="2"/>
              <a:buChar char="§"/>
            </a:pPr>
            <a:r>
              <a:rPr lang="en-PK" dirty="0"/>
              <a:t>www.javatpoint.com</a:t>
            </a:r>
            <a:r>
              <a:rPr lang="en-US" dirty="0"/>
              <a:t> (13-06-2021)</a:t>
            </a:r>
          </a:p>
          <a:p>
            <a:endParaRPr lang="en-US" dirty="0"/>
          </a:p>
          <a:p>
            <a:endParaRPr lang="en-PK" dirty="0"/>
          </a:p>
          <a:p>
            <a:endParaRPr lang="en-PK" dirty="0"/>
          </a:p>
        </p:txBody>
      </p:sp>
    </p:spTree>
    <p:extLst>
      <p:ext uri="{BB962C8B-B14F-4D97-AF65-F5344CB8AC3E}">
        <p14:creationId xmlns:p14="http://schemas.microsoft.com/office/powerpoint/2010/main" val="3321096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2403</TotalTime>
  <Words>2928</Words>
  <Application>Microsoft Office PowerPoint</Application>
  <PresentationFormat>Widescreen</PresentationFormat>
  <Paragraphs>234</Paragraphs>
  <Slides>40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Arial</vt:lpstr>
      <vt:lpstr>avenir-regular</vt:lpstr>
      <vt:lpstr>Calibri</vt:lpstr>
      <vt:lpstr>Calibri Light</vt:lpstr>
      <vt:lpstr>Courier New</vt:lpstr>
      <vt:lpstr>Inter-Bold</vt:lpstr>
      <vt:lpstr>Inter-Regular</vt:lpstr>
      <vt:lpstr>MuseoSans</vt:lpstr>
      <vt:lpstr>times new roman</vt:lpstr>
      <vt:lpstr>urw-din</vt:lpstr>
      <vt:lpstr>Wingdings</vt:lpstr>
      <vt:lpstr>Retrospect</vt:lpstr>
      <vt:lpstr> Advance Web Application Development</vt:lpstr>
      <vt:lpstr>What is Website</vt:lpstr>
      <vt:lpstr>What is Web Development</vt:lpstr>
      <vt:lpstr>Successful storeis</vt:lpstr>
      <vt:lpstr>Successful Stories</vt:lpstr>
      <vt:lpstr>Successful Stories</vt:lpstr>
      <vt:lpstr>Job opportunities after this course</vt:lpstr>
      <vt:lpstr>Courses Objectives</vt:lpstr>
      <vt:lpstr>Ethical Web Development</vt:lpstr>
      <vt:lpstr>Cyber Crimes</vt:lpstr>
      <vt:lpstr>Cyber Crimes</vt:lpstr>
      <vt:lpstr>World Wide Web (WWW)</vt:lpstr>
      <vt:lpstr>World Wide Web (WWW)</vt:lpstr>
      <vt:lpstr>World Wide Web (WWW)</vt:lpstr>
      <vt:lpstr>Difference between World Wide Web and Internet</vt:lpstr>
      <vt:lpstr>Difference between World Wide Web and Internet</vt:lpstr>
      <vt:lpstr>Internet</vt:lpstr>
      <vt:lpstr>Difference between World Wide Web and Internet</vt:lpstr>
      <vt:lpstr>World Wide Web (WWW)</vt:lpstr>
      <vt:lpstr>PowerPoint Presentation</vt:lpstr>
      <vt:lpstr>World Wide Web</vt:lpstr>
      <vt:lpstr>World Wide Web</vt:lpstr>
      <vt:lpstr>Generation/Version of World Wide Web</vt:lpstr>
      <vt:lpstr>Web 1.0</vt:lpstr>
      <vt:lpstr>Web 1.0</vt:lpstr>
      <vt:lpstr>Web 2.0</vt:lpstr>
      <vt:lpstr>Web 2.0</vt:lpstr>
      <vt:lpstr>Web 2.0</vt:lpstr>
      <vt:lpstr>Web 3.0</vt:lpstr>
      <vt:lpstr>Difference between Web 1.0, Web 2.0 and Web 3.0</vt:lpstr>
      <vt:lpstr>PowerPoint Presentation</vt:lpstr>
      <vt:lpstr>WEB 4.0 AND FUTURE WEB</vt:lpstr>
      <vt:lpstr>Static Website VS Dynamic Website</vt:lpstr>
      <vt:lpstr>Static Website</vt:lpstr>
      <vt:lpstr>Static Website VS Dynamic Website</vt:lpstr>
      <vt:lpstr>Static Website VS Dynamic Website</vt:lpstr>
      <vt:lpstr>PowerPoint Presentation</vt:lpstr>
      <vt:lpstr>Static VS Dynamic Websites</vt:lpstr>
      <vt:lpstr>Architecture of Static &amp; Dynamic Website</vt:lpstr>
      <vt:lpstr>Referencing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 Web Application Development</dc:title>
  <dc:creator>Muhammad Asif</dc:creator>
  <cp:lastModifiedBy>FLorance</cp:lastModifiedBy>
  <cp:revision>211</cp:revision>
  <dcterms:created xsi:type="dcterms:W3CDTF">2021-06-13T08:32:50Z</dcterms:created>
  <dcterms:modified xsi:type="dcterms:W3CDTF">2025-09-27T16:03:50Z</dcterms:modified>
</cp:coreProperties>
</file>